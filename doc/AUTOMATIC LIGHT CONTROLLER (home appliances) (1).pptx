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embeddedFontLst>
    <p:embeddedFont>
      <p:font typeface="Merriweather" panose="020B0604020202020204" charset="0"/>
      <p:regular r:id="rId26"/>
      <p:bold r:id="rId27"/>
      <p:italic r:id="rId28"/>
      <p:boldItalic r:id="rId29"/>
    </p:embeddedFont>
    <p:embeddedFont>
      <p:font typeface="Roboto" panose="020B060402020202020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6" autoAdjust="0"/>
    <p:restoredTop sz="94660"/>
  </p:normalViewPr>
  <p:slideViewPr>
    <p:cSldViewPr snapToGrid="0">
      <p:cViewPr varScale="1">
        <p:scale>
          <a:sx n="97" d="100"/>
          <a:sy n="97" d="100"/>
        </p:scale>
        <p:origin x="424" y="6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79eb8dee3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79eb8dee3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79eb8dee35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79eb8dee35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79eb8dee35_1_35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79eb8dee35_1_35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79eb8dee35_1_35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79eb8dee35_1_35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887942e80f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887942e80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79eb8dee35_1_35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79eb8dee35_1_35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887942e80f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887942e80f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79eb8dee35_1_3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79eb8dee35_1_3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887942e80f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887942e80f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7a058e6817_0_6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7a058e6817_0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7a058e6817_0_6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7a058e6817_0_6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8a79f31bfd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8a79f31bfd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887942e80f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887942e80f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7a058e6817_0_7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7a058e6817_0_7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7a058e6817_0_7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7a058e6817_0_7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7a058e6817_0_7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7a058e6817_0_7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7a058e6817_0_7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7a058e6817_0_7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803ba61896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803ba61896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7a058e6817_0_7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7a058e6817_0_7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803ba61896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803ba61896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7a058e6817_0_7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7a058e6817_0_7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887942e80f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887942e80f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 name="Google Shape;23;p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4" name="Google Shape;24;p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 name="Google Shape;29;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title"/>
          </p:nvPr>
        </p:nvSpPr>
        <p:spPr>
          <a:xfrm>
            <a:off x="311725" y="500925"/>
            <a:ext cx="3127500" cy="18291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9" name="Google Shape;39;p7"/>
          <p:cNvSpPr txBox="1">
            <a:spLocks noGrp="1"/>
          </p:cNvSpPr>
          <p:nvPr>
            <p:ph type="body" idx="1"/>
          </p:nvPr>
        </p:nvSpPr>
        <p:spPr>
          <a:xfrm>
            <a:off x="311700" y="2390650"/>
            <a:ext cx="3127500" cy="229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40" name="Google Shape;4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vaishnavi.v2024@vitstudent.ac.in"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hyperlink" Target="https://www.ijert.org/automatic-light-control-system-using-ldr-and-relay" TargetMode="External"/><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hyperlink" Target="https://www.ijarsct.co.in/Paper13159.pdf" TargetMode="External"/><Relationship Id="rId5" Type="http://schemas.openxmlformats.org/officeDocument/2006/relationships/hyperlink" Target="https://www.jetir.org/papers/JETIR2403204.pdf" TargetMode="External"/><Relationship Id="rId4" Type="http://schemas.openxmlformats.org/officeDocument/2006/relationships/hyperlink" Target="https://ijarcce.com/upload/2016/april-16/IJARCCE%2013.pdf"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320" b="1" dirty="0"/>
              <a:t>AUTOMATIC LIGHT CONTROLLER-</a:t>
            </a:r>
            <a:endParaRPr sz="3320" b="1" dirty="0"/>
          </a:p>
          <a:p>
            <a:pPr marL="0" lvl="0" indent="0" algn="l" rtl="0">
              <a:spcBef>
                <a:spcPts val="0"/>
              </a:spcBef>
              <a:spcAft>
                <a:spcPts val="0"/>
              </a:spcAft>
              <a:buSzPts val="990"/>
              <a:buNone/>
            </a:pPr>
            <a:r>
              <a:rPr lang="en" sz="3320" b="1" dirty="0"/>
              <a:t>(HOME APPLIANCES)</a:t>
            </a:r>
            <a:endParaRPr sz="3320" b="1" dirty="0"/>
          </a:p>
        </p:txBody>
      </p:sp>
      <p:sp>
        <p:nvSpPr>
          <p:cNvPr id="65" name="Google Shape;65;p13"/>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 </a:t>
            </a:r>
            <a:r>
              <a:rPr lang="en" sz="1900" b="1">
                <a:solidFill>
                  <a:schemeClr val="dk1"/>
                </a:solidFill>
              </a:rPr>
              <a:t>USING CD4017 AND IR SENSOR</a:t>
            </a:r>
            <a:endParaRPr sz="1900" b="1">
              <a:solidFill>
                <a:schemeClr val="dk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7346"/>
    </mc:Choice>
    <mc:Fallback xmlns="">
      <p:transition spd="slow" advTm="734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rgbClr val="FFFFFF"/>
                </a:solidFill>
                <a:latin typeface="Arial"/>
                <a:ea typeface="Arial"/>
                <a:cs typeface="Arial"/>
                <a:sym typeface="Arial"/>
              </a:rPr>
              <a:t>GROUP MEMBERS</a:t>
            </a:r>
            <a:endParaRPr dirty="0">
              <a:solidFill>
                <a:srgbClr val="FFFFFF"/>
              </a:solidFill>
              <a:latin typeface="Arial"/>
              <a:ea typeface="Arial"/>
              <a:cs typeface="Arial"/>
              <a:sym typeface="Arial"/>
            </a:endParaRPr>
          </a:p>
        </p:txBody>
      </p:sp>
      <p:sp>
        <p:nvSpPr>
          <p:cNvPr id="71" name="Google Shape;71;p14"/>
          <p:cNvSpPr txBox="1">
            <a:spLocks noGrp="1"/>
          </p:cNvSpPr>
          <p:nvPr>
            <p:ph type="body" idx="1"/>
          </p:nvPr>
        </p:nvSpPr>
        <p:spPr>
          <a:xfrm>
            <a:off x="498150" y="1234075"/>
            <a:ext cx="8520600" cy="3334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chemeClr val="accent6"/>
                </a:solidFill>
                <a:latin typeface="Arial"/>
                <a:ea typeface="Arial"/>
                <a:cs typeface="Arial"/>
                <a:sym typeface="Arial"/>
              </a:rPr>
              <a:t>V VAISHNAVI ( 24BEC0432 )</a:t>
            </a:r>
            <a:endParaRPr dirty="0">
              <a:solidFill>
                <a:schemeClr val="accent6"/>
              </a:solidFill>
              <a:latin typeface="Arial"/>
              <a:ea typeface="Arial"/>
              <a:cs typeface="Arial"/>
              <a:sym typeface="Arial"/>
            </a:endParaRPr>
          </a:p>
          <a:p>
            <a:pPr marL="0" lvl="0" indent="0" algn="l" rtl="0">
              <a:spcBef>
                <a:spcPts val="1200"/>
              </a:spcBef>
              <a:spcAft>
                <a:spcPts val="0"/>
              </a:spcAft>
              <a:buNone/>
            </a:pPr>
            <a:r>
              <a:rPr lang="en" sz="1400" u="sng" dirty="0">
                <a:solidFill>
                  <a:schemeClr val="lt1"/>
                </a:solidFill>
                <a:latin typeface="Arial"/>
                <a:ea typeface="Arial"/>
                <a:cs typeface="Arial"/>
                <a:sym typeface="Arial"/>
                <a:hlinkClick r:id="rId3">
                  <a:extLst>
                    <a:ext uri="{A12FA001-AC4F-418D-AE19-62706E023703}">
                      <ahyp:hlinkClr xmlns:ahyp="http://schemas.microsoft.com/office/drawing/2018/hyperlinkcolor" val="tx"/>
                    </a:ext>
                  </a:extLst>
                </a:hlinkClick>
              </a:rPr>
              <a:t>vaishnavi.v2024@vitstudent.ac.in</a:t>
            </a:r>
            <a:endParaRPr sz="2100" dirty="0">
              <a:solidFill>
                <a:schemeClr val="lt1"/>
              </a:solidFill>
              <a:latin typeface="Arial"/>
              <a:ea typeface="Arial"/>
              <a:cs typeface="Arial"/>
              <a:sym typeface="Arial"/>
            </a:endParaRPr>
          </a:p>
        </p:txBody>
      </p:sp>
      <p:pic>
        <p:nvPicPr>
          <p:cNvPr id="72" name="Google Shape;72;p14"/>
          <p:cNvPicPr preferRelativeResize="0"/>
          <p:nvPr/>
        </p:nvPicPr>
        <p:blipFill>
          <a:blip r:embed="rId4">
            <a:alphaModFix/>
          </a:blip>
          <a:stretch>
            <a:fillRect/>
          </a:stretch>
        </p:blipFill>
        <p:spPr>
          <a:xfrm>
            <a:off x="4976325" y="475775"/>
            <a:ext cx="3587600" cy="40312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advTm="8270"/>
    </mc:Choice>
    <mc:Fallback xmlns="">
      <p:transition spd="slow" advTm="827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latin typeface="Arial"/>
                <a:ea typeface="Arial"/>
                <a:cs typeface="Arial"/>
                <a:sym typeface="Arial"/>
              </a:rPr>
              <a:t>AIM</a:t>
            </a:r>
            <a:endParaRPr>
              <a:latin typeface="Arial"/>
              <a:ea typeface="Arial"/>
              <a:cs typeface="Arial"/>
              <a:sym typeface="Arial"/>
            </a:endParaRPr>
          </a:p>
        </p:txBody>
      </p:sp>
      <p:sp>
        <p:nvSpPr>
          <p:cNvPr id="78" name="Google Shape;78;p15"/>
          <p:cNvSpPr txBox="1">
            <a:spLocks noGrp="1"/>
          </p:cNvSpPr>
          <p:nvPr>
            <p:ph type="body" idx="4294967295"/>
          </p:nvPr>
        </p:nvSpPr>
        <p:spPr>
          <a:xfrm>
            <a:off x="231450" y="1755225"/>
            <a:ext cx="8579700" cy="2844300"/>
          </a:xfrm>
          <a:prstGeom prst="rect">
            <a:avLst/>
          </a:prstGeom>
        </p:spPr>
        <p:txBody>
          <a:bodyPr spcFirstLastPara="1" wrap="square" lIns="91425" tIns="91425" rIns="91425" bIns="91425" anchor="t" anchorCtr="0">
            <a:noAutofit/>
          </a:bodyPr>
          <a:lstStyle/>
          <a:p>
            <a:pPr marL="457200" lvl="0" indent="-336550" algn="just" rtl="0">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To design and implement an automatic light control system for home appliances using </a:t>
            </a:r>
            <a:r>
              <a:rPr lang="en" sz="1700" b="1">
                <a:solidFill>
                  <a:srgbClr val="000000"/>
                </a:solidFill>
                <a:latin typeface="Arial"/>
                <a:ea typeface="Arial"/>
                <a:cs typeface="Arial"/>
                <a:sym typeface="Arial"/>
              </a:rPr>
              <a:t>CD4017 IC</a:t>
            </a:r>
            <a:r>
              <a:rPr lang="en" sz="1700">
                <a:solidFill>
                  <a:srgbClr val="000000"/>
                </a:solidFill>
                <a:latin typeface="Arial"/>
                <a:ea typeface="Arial"/>
                <a:cs typeface="Arial"/>
                <a:sym typeface="Arial"/>
              </a:rPr>
              <a:t> and </a:t>
            </a:r>
            <a:r>
              <a:rPr lang="en" sz="1700" b="1">
                <a:solidFill>
                  <a:srgbClr val="000000"/>
                </a:solidFill>
                <a:latin typeface="Arial"/>
                <a:ea typeface="Arial"/>
                <a:cs typeface="Arial"/>
                <a:sym typeface="Arial"/>
              </a:rPr>
              <a:t>IR SENSOR</a:t>
            </a:r>
            <a:r>
              <a:rPr lang="en" sz="1700">
                <a:solidFill>
                  <a:srgbClr val="000000"/>
                </a:solidFill>
                <a:latin typeface="Arial"/>
                <a:ea typeface="Arial"/>
                <a:cs typeface="Arial"/>
                <a:sym typeface="Arial"/>
              </a:rPr>
              <a:t>, enabling intelligent switching based on environmental inputs such as light intensity or occupancy. </a:t>
            </a:r>
            <a:endParaRPr sz="1700">
              <a:solidFill>
                <a:srgbClr val="000000"/>
              </a:solidFill>
              <a:latin typeface="Arial"/>
              <a:ea typeface="Arial"/>
              <a:cs typeface="Arial"/>
              <a:sym typeface="Arial"/>
            </a:endParaRPr>
          </a:p>
          <a:p>
            <a:pPr marL="457200" lvl="0" indent="-336550" algn="just" rtl="0">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The project seeks to demonstrate how basic digital logic can be applied to automate lighting, reduce energy consumption, and enhance user convenience without relying on microcontrollers or complex programming.</a:t>
            </a:r>
            <a:endParaRPr sz="1700">
              <a:solidFill>
                <a:srgbClr val="000000"/>
              </a:solidFill>
              <a:latin typeface="Arial"/>
              <a:ea typeface="Arial"/>
              <a:cs typeface="Arial"/>
              <a:sym typeface="Arial"/>
            </a:endParaRPr>
          </a:p>
          <a:p>
            <a:pPr marL="457200" lvl="0" indent="-311150" algn="just" rtl="0">
              <a:spcBef>
                <a:spcPts val="0"/>
              </a:spcBef>
              <a:spcAft>
                <a:spcPts val="0"/>
              </a:spcAft>
              <a:buClr>
                <a:srgbClr val="000000"/>
              </a:buClr>
              <a:buSzPts val="1300"/>
              <a:buFont typeface="Arial"/>
              <a:buChar char="❖"/>
            </a:pPr>
            <a:r>
              <a:rPr lang="en" sz="1800">
                <a:solidFill>
                  <a:srgbClr val="000000"/>
                </a:solidFill>
                <a:latin typeface="Arial"/>
                <a:ea typeface="Arial"/>
                <a:cs typeface="Arial"/>
                <a:sym typeface="Arial"/>
              </a:rPr>
              <a:t>To </a:t>
            </a:r>
            <a:r>
              <a:rPr lang="en" sz="1700">
                <a:solidFill>
                  <a:srgbClr val="000000"/>
                </a:solidFill>
                <a:latin typeface="Arial"/>
                <a:ea typeface="Arial"/>
                <a:cs typeface="Arial"/>
                <a:sym typeface="Arial"/>
              </a:rPr>
              <a:t>display the</a:t>
            </a:r>
            <a:r>
              <a:rPr lang="en" sz="2000">
                <a:solidFill>
                  <a:srgbClr val="000000"/>
                </a:solidFill>
                <a:latin typeface="Arial"/>
                <a:ea typeface="Arial"/>
                <a:cs typeface="Arial"/>
                <a:sym typeface="Arial"/>
              </a:rPr>
              <a:t> </a:t>
            </a:r>
            <a:r>
              <a:rPr lang="en" sz="1700">
                <a:solidFill>
                  <a:srgbClr val="000000"/>
                </a:solidFill>
                <a:latin typeface="Arial"/>
                <a:ea typeface="Arial"/>
                <a:cs typeface="Arial"/>
                <a:sym typeface="Arial"/>
              </a:rPr>
              <a:t>output on </a:t>
            </a:r>
            <a:r>
              <a:rPr lang="en" sz="1700" b="1">
                <a:solidFill>
                  <a:srgbClr val="000000"/>
                </a:solidFill>
                <a:latin typeface="Arial"/>
                <a:ea typeface="Arial"/>
                <a:cs typeface="Arial"/>
                <a:sym typeface="Arial"/>
              </a:rPr>
              <a:t>six</a:t>
            </a:r>
            <a:r>
              <a:rPr lang="en" sz="1600" b="1">
                <a:solidFill>
                  <a:srgbClr val="000000"/>
                </a:solidFill>
                <a:latin typeface="Arial"/>
                <a:ea typeface="Arial"/>
                <a:cs typeface="Arial"/>
                <a:sym typeface="Arial"/>
              </a:rPr>
              <a:t> </a:t>
            </a:r>
            <a:r>
              <a:rPr lang="en" sz="1700" b="1">
                <a:solidFill>
                  <a:srgbClr val="000000"/>
                </a:solidFill>
                <a:latin typeface="Arial"/>
                <a:ea typeface="Arial"/>
                <a:cs typeface="Arial"/>
                <a:sym typeface="Arial"/>
              </a:rPr>
              <a:t>seven-segment displays</a:t>
            </a:r>
            <a:r>
              <a:rPr lang="en" sz="1700">
                <a:solidFill>
                  <a:srgbClr val="000000"/>
                </a:solidFill>
                <a:latin typeface="Arial"/>
                <a:ea typeface="Arial"/>
                <a:cs typeface="Arial"/>
                <a:sym typeface="Arial"/>
              </a:rPr>
              <a:t> for real-time user interaction.</a:t>
            </a:r>
            <a:endParaRPr sz="2100">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11936"/>
    </mc:Choice>
    <mc:Fallback xmlns="">
      <p:transition spd="slow" advTm="1193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82"/>
        <p:cNvGrpSpPr/>
        <p:nvPr/>
      </p:nvGrpSpPr>
      <p:grpSpPr>
        <a:xfrm>
          <a:off x="0" y="0"/>
          <a:ext cx="0" cy="0"/>
          <a:chOff x="0" y="0"/>
          <a:chExt cx="0" cy="0"/>
        </a:xfrm>
      </p:grpSpPr>
      <p:sp>
        <p:nvSpPr>
          <p:cNvPr id="83" name="Google Shape;83;p1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latin typeface="Arial"/>
                <a:ea typeface="Arial"/>
                <a:cs typeface="Arial"/>
                <a:sym typeface="Arial"/>
              </a:rPr>
              <a:t>OBJECTIVE</a:t>
            </a:r>
            <a:endParaRPr dirty="0">
              <a:latin typeface="Arial"/>
              <a:ea typeface="Arial"/>
              <a:cs typeface="Arial"/>
              <a:sym typeface="Arial"/>
            </a:endParaRPr>
          </a:p>
        </p:txBody>
      </p:sp>
      <p:sp>
        <p:nvSpPr>
          <p:cNvPr id="84" name="Google Shape;84;p16"/>
          <p:cNvSpPr txBox="1">
            <a:spLocks noGrp="1"/>
          </p:cNvSpPr>
          <p:nvPr>
            <p:ph type="body" idx="4294967295"/>
          </p:nvPr>
        </p:nvSpPr>
        <p:spPr>
          <a:xfrm>
            <a:off x="369393" y="1205069"/>
            <a:ext cx="8213032" cy="4164855"/>
          </a:xfrm>
          <a:prstGeom prst="rect">
            <a:avLst/>
          </a:prstGeom>
        </p:spPr>
        <p:txBody>
          <a:bodyPr spcFirstLastPara="1" wrap="square" lIns="91425" tIns="91425" rIns="91425" bIns="91425" anchor="t" anchorCtr="0">
            <a:noAutofit/>
          </a:bodyPr>
          <a:lstStyle/>
          <a:p>
            <a:pPr marL="457200" lvl="0" indent="-323850" rtl="0">
              <a:spcBef>
                <a:spcPts val="1200"/>
              </a:spcBef>
              <a:spcAft>
                <a:spcPts val="0"/>
              </a:spcAft>
              <a:buClr>
                <a:srgbClr val="000000"/>
              </a:buClr>
              <a:buSzPts val="1500"/>
              <a:buFont typeface="Arial"/>
              <a:buChar char="❖"/>
            </a:pPr>
            <a:r>
              <a:rPr lang="en" sz="1500" b="1" dirty="0">
                <a:solidFill>
                  <a:srgbClr val="000000"/>
                </a:solidFill>
                <a:latin typeface="Arial"/>
                <a:ea typeface="Arial"/>
                <a:cs typeface="Arial"/>
                <a:sym typeface="Arial"/>
              </a:rPr>
              <a:t>Design a Logic-Based Control Circuit</a:t>
            </a:r>
            <a:br>
              <a:rPr lang="en" sz="1500" b="1" dirty="0">
                <a:solidFill>
                  <a:srgbClr val="000000"/>
                </a:solidFill>
                <a:latin typeface="Arial"/>
                <a:ea typeface="Arial"/>
                <a:cs typeface="Arial"/>
                <a:sym typeface="Arial"/>
              </a:rPr>
            </a:br>
            <a:r>
              <a:rPr lang="en" sz="1500" dirty="0">
                <a:solidFill>
                  <a:srgbClr val="000000"/>
                </a:solidFill>
                <a:latin typeface="Arial"/>
                <a:ea typeface="Arial"/>
                <a:cs typeface="Arial"/>
                <a:sym typeface="Arial"/>
              </a:rPr>
              <a:t>Develop a combinational logic circuit using basic CD4017 IC  to automate light switching based on input conditions like ambient light or motion detection.</a:t>
            </a:r>
            <a:endParaRPr sz="1500" dirty="0">
              <a:solidFill>
                <a:srgbClr val="000000"/>
              </a:solidFill>
              <a:latin typeface="Arial"/>
              <a:ea typeface="Arial"/>
              <a:cs typeface="Arial"/>
              <a:sym typeface="Arial"/>
            </a:endParaRPr>
          </a:p>
          <a:p>
            <a:pPr marL="457200" lvl="0" indent="-323850" rtl="0">
              <a:spcBef>
                <a:spcPts val="0"/>
              </a:spcBef>
              <a:spcAft>
                <a:spcPts val="0"/>
              </a:spcAft>
              <a:buClr>
                <a:srgbClr val="000000"/>
              </a:buClr>
              <a:buSzPts val="1500"/>
              <a:buFont typeface="Arial"/>
              <a:buChar char="❖"/>
            </a:pPr>
            <a:r>
              <a:rPr lang="en" sz="1500" b="1" dirty="0">
                <a:solidFill>
                  <a:srgbClr val="000000"/>
                </a:solidFill>
                <a:latin typeface="Arial"/>
                <a:ea typeface="Arial"/>
                <a:cs typeface="Arial"/>
                <a:sym typeface="Arial"/>
              </a:rPr>
              <a:t>Eliminate Manual Intervention</a:t>
            </a:r>
            <a:br>
              <a:rPr lang="en" sz="1500" b="1" dirty="0">
                <a:solidFill>
                  <a:srgbClr val="000000"/>
                </a:solidFill>
                <a:latin typeface="Arial"/>
                <a:ea typeface="Arial"/>
                <a:cs typeface="Arial"/>
                <a:sym typeface="Arial"/>
              </a:rPr>
            </a:br>
            <a:r>
              <a:rPr lang="en" sz="1500" dirty="0">
                <a:solidFill>
                  <a:srgbClr val="000000"/>
                </a:solidFill>
                <a:latin typeface="Arial"/>
                <a:ea typeface="Arial"/>
                <a:cs typeface="Arial"/>
                <a:sym typeface="Arial"/>
              </a:rPr>
              <a:t>Enable automatic operation of lighting systems to reduce human effort and improve convenience, especially in frequently used areas like hallways, bathrooms, or outdoor spaces.</a:t>
            </a:r>
            <a:endParaRPr sz="1500" dirty="0">
              <a:solidFill>
                <a:srgbClr val="000000"/>
              </a:solidFill>
              <a:latin typeface="Arial"/>
              <a:ea typeface="Arial"/>
              <a:cs typeface="Arial"/>
              <a:sym typeface="Arial"/>
            </a:endParaRPr>
          </a:p>
          <a:p>
            <a:pPr marL="457200" lvl="0" indent="-323850" rtl="0">
              <a:spcBef>
                <a:spcPts val="0"/>
              </a:spcBef>
              <a:spcAft>
                <a:spcPts val="0"/>
              </a:spcAft>
              <a:buClr>
                <a:srgbClr val="000000"/>
              </a:buClr>
              <a:buSzPts val="1500"/>
              <a:buFont typeface="Arial"/>
              <a:buChar char="❖"/>
            </a:pPr>
            <a:r>
              <a:rPr lang="en" sz="1500" b="1" dirty="0">
                <a:solidFill>
                  <a:srgbClr val="000000"/>
                </a:solidFill>
                <a:latin typeface="Arial"/>
                <a:ea typeface="Arial"/>
                <a:cs typeface="Arial"/>
                <a:sym typeface="Arial"/>
              </a:rPr>
              <a:t>Optimize Energy Consumption</a:t>
            </a:r>
            <a:br>
              <a:rPr lang="en" sz="1500" b="1" dirty="0">
                <a:solidFill>
                  <a:srgbClr val="000000"/>
                </a:solidFill>
                <a:latin typeface="Arial"/>
                <a:ea typeface="Arial"/>
                <a:cs typeface="Arial"/>
                <a:sym typeface="Arial"/>
              </a:rPr>
            </a:br>
            <a:r>
              <a:rPr lang="en" sz="1500" dirty="0">
                <a:solidFill>
                  <a:srgbClr val="000000"/>
                </a:solidFill>
                <a:latin typeface="Arial"/>
                <a:ea typeface="Arial"/>
                <a:cs typeface="Arial"/>
                <a:sym typeface="Arial"/>
              </a:rPr>
              <a:t>Ensure lights are activated only when necessary, minimizing electricity usage and contributing to sustainable energy practices.</a:t>
            </a:r>
            <a:endParaRPr sz="1500" dirty="0">
              <a:solidFill>
                <a:srgbClr val="000000"/>
              </a:solidFill>
              <a:latin typeface="Arial"/>
              <a:ea typeface="Arial"/>
              <a:cs typeface="Arial"/>
              <a:sym typeface="Arial"/>
            </a:endParaRPr>
          </a:p>
          <a:p>
            <a:pPr marL="457200" lvl="0" indent="-323850" rtl="0">
              <a:spcBef>
                <a:spcPts val="0"/>
              </a:spcBef>
              <a:spcAft>
                <a:spcPts val="0"/>
              </a:spcAft>
              <a:buClr>
                <a:srgbClr val="000000"/>
              </a:buClr>
              <a:buSzPts val="1500"/>
              <a:buFont typeface="Arial"/>
              <a:buChar char="❖"/>
            </a:pPr>
            <a:r>
              <a:rPr lang="en" sz="1500" b="1" dirty="0">
                <a:solidFill>
                  <a:srgbClr val="000000"/>
                </a:solidFill>
                <a:latin typeface="Arial"/>
                <a:ea typeface="Arial"/>
                <a:cs typeface="Arial"/>
                <a:sym typeface="Arial"/>
              </a:rPr>
              <a:t>Demonstrate Practical Use of Digital components</a:t>
            </a:r>
            <a:br>
              <a:rPr lang="en" sz="1500" b="1" dirty="0">
                <a:solidFill>
                  <a:srgbClr val="000000"/>
                </a:solidFill>
                <a:latin typeface="Arial"/>
                <a:ea typeface="Arial"/>
                <a:cs typeface="Arial"/>
                <a:sym typeface="Arial"/>
              </a:rPr>
            </a:br>
            <a:r>
              <a:rPr lang="en" sz="1500" dirty="0">
                <a:solidFill>
                  <a:srgbClr val="000000"/>
                </a:solidFill>
                <a:latin typeface="Arial"/>
                <a:ea typeface="Arial"/>
                <a:cs typeface="Arial"/>
                <a:sym typeface="Arial"/>
              </a:rPr>
              <a:t>Showcase how simple digital components can be used to solve real-world problems without relying on microcontrollers or software programming.</a:t>
            </a:r>
            <a:endParaRPr sz="1500" dirty="0">
              <a:solidFill>
                <a:srgbClr val="000000"/>
              </a:solidFill>
              <a:latin typeface="Arial"/>
              <a:ea typeface="Arial"/>
              <a:cs typeface="Arial"/>
              <a:sym typeface="Arial"/>
            </a:endParaRPr>
          </a:p>
          <a:p>
            <a:pPr marL="0" lvl="0" indent="0" algn="just" rtl="0">
              <a:lnSpc>
                <a:spcPct val="95000"/>
              </a:lnSpc>
              <a:spcBef>
                <a:spcPts val="1200"/>
              </a:spcBef>
              <a:spcAft>
                <a:spcPts val="1200"/>
              </a:spcAft>
              <a:buSzPts val="523"/>
              <a:buNone/>
            </a:pPr>
            <a:endParaRPr sz="1255" dirty="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88"/>
        <p:cNvGrpSpPr/>
        <p:nvPr/>
      </p:nvGrpSpPr>
      <p:grpSpPr>
        <a:xfrm>
          <a:off x="0" y="0"/>
          <a:ext cx="0" cy="0"/>
          <a:chOff x="0" y="0"/>
          <a:chExt cx="0" cy="0"/>
        </a:xfrm>
      </p:grpSpPr>
      <p:sp>
        <p:nvSpPr>
          <p:cNvPr id="89" name="Google Shape;89;p17"/>
          <p:cNvSpPr txBox="1"/>
          <p:nvPr/>
        </p:nvSpPr>
        <p:spPr>
          <a:xfrm>
            <a:off x="159282" y="1268361"/>
            <a:ext cx="8694017" cy="3888980"/>
          </a:xfrm>
          <a:prstGeom prst="rect">
            <a:avLst/>
          </a:prstGeom>
          <a:noFill/>
          <a:ln>
            <a:noFill/>
          </a:ln>
        </p:spPr>
        <p:txBody>
          <a:bodyPr spcFirstLastPara="1" wrap="square" lIns="91425" tIns="91425" rIns="91425" bIns="91425" anchor="t" anchorCtr="0">
            <a:spAutoFit/>
          </a:bodyPr>
          <a:lstStyle/>
          <a:p>
            <a:pPr marL="457200" lvl="0" indent="-317500" rtl="0">
              <a:lnSpc>
                <a:spcPct val="115000"/>
              </a:lnSpc>
              <a:spcBef>
                <a:spcPts val="1200"/>
              </a:spcBef>
              <a:spcAft>
                <a:spcPts val="0"/>
              </a:spcAft>
              <a:buSzPts val="1400"/>
              <a:buChar char="❖"/>
            </a:pPr>
            <a:r>
              <a:rPr lang="en" b="1" dirty="0"/>
              <a:t>Integrate Sensor Inputs</a:t>
            </a:r>
            <a:br>
              <a:rPr lang="en" b="1" dirty="0"/>
            </a:br>
            <a:r>
              <a:rPr lang="en" dirty="0"/>
              <a:t>Interface the integrated circuit with sensors such as LDRs (Light Dependent Resistors) or IR motion detectors to provide real-time environmental feedback. </a:t>
            </a:r>
            <a:r>
              <a:rPr lang="en" b="1" dirty="0"/>
              <a:t>Ensure Cost-Effective Implementation</a:t>
            </a:r>
            <a:br>
              <a:rPr lang="en" b="1" dirty="0"/>
            </a:br>
            <a:r>
              <a:rPr lang="en" dirty="0"/>
              <a:t>Use readily available components to build a low-cost, scalable solution suitable for homes, hostels, or small offices.</a:t>
            </a:r>
            <a:endParaRPr dirty="0"/>
          </a:p>
          <a:p>
            <a:pPr marL="457200" lvl="0" indent="-317500" rtl="0">
              <a:lnSpc>
                <a:spcPct val="115000"/>
              </a:lnSpc>
              <a:spcBef>
                <a:spcPts val="0"/>
              </a:spcBef>
              <a:spcAft>
                <a:spcPts val="0"/>
              </a:spcAft>
              <a:buSzPts val="1400"/>
              <a:buChar char="❖"/>
            </a:pPr>
            <a:r>
              <a:rPr lang="en" b="1" dirty="0"/>
              <a:t>Enhance System Reliability and Responsiveness</a:t>
            </a:r>
            <a:br>
              <a:rPr lang="en" b="1" dirty="0"/>
            </a:br>
            <a:r>
              <a:rPr lang="en" dirty="0"/>
              <a:t>Design the circuit to respond quickly and accurately to input changes, ensuring consistent performance under varying conditions.</a:t>
            </a:r>
            <a:endParaRPr dirty="0"/>
          </a:p>
          <a:p>
            <a:pPr marL="457200" lvl="0" indent="-317500" rtl="0">
              <a:lnSpc>
                <a:spcPct val="115000"/>
              </a:lnSpc>
              <a:spcBef>
                <a:spcPts val="0"/>
              </a:spcBef>
              <a:spcAft>
                <a:spcPts val="0"/>
              </a:spcAft>
              <a:buSzPts val="1400"/>
              <a:buChar char="❖"/>
            </a:pPr>
            <a:r>
              <a:rPr lang="en" b="1" dirty="0"/>
              <a:t>Promote Hands-On Learning and Simulation</a:t>
            </a:r>
            <a:br>
              <a:rPr lang="en" b="1" dirty="0"/>
            </a:br>
            <a:r>
              <a:rPr lang="en" dirty="0"/>
              <a:t>Encourage circuit simulation using tools like Proteus or Multisim to validate logic behavior before physical prototyping.</a:t>
            </a:r>
            <a:endParaRPr dirty="0"/>
          </a:p>
          <a:p>
            <a:pPr marL="457200" lvl="0" indent="-317500" rtl="0">
              <a:lnSpc>
                <a:spcPct val="115000"/>
              </a:lnSpc>
              <a:spcBef>
                <a:spcPts val="0"/>
              </a:spcBef>
              <a:spcAft>
                <a:spcPts val="0"/>
              </a:spcAft>
              <a:buSzPts val="1400"/>
              <a:buChar char="❖"/>
            </a:pPr>
            <a:r>
              <a:rPr lang="en" b="1" dirty="0"/>
              <a:t>Explore Future Extensions</a:t>
            </a:r>
            <a:br>
              <a:rPr lang="en" b="1" dirty="0"/>
            </a:br>
            <a:r>
              <a:rPr lang="en" dirty="0"/>
              <a:t>Lay the groundwork for integrating more advanced features like time-based control, dimming, or wireless switching using hybrid analog-digital systems.</a:t>
            </a:r>
            <a:endParaRPr dirty="0"/>
          </a:p>
        </p:txBody>
      </p:sp>
      <p:sp>
        <p:nvSpPr>
          <p:cNvPr id="90" name="Google Shape;90;p1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latin typeface="Arial"/>
                <a:ea typeface="Arial"/>
                <a:cs typeface="Arial"/>
                <a:sym typeface="Arial"/>
              </a:rPr>
              <a:t>OBJECTIVE</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latin typeface="Arial"/>
                <a:ea typeface="Arial"/>
                <a:cs typeface="Arial"/>
                <a:sym typeface="Arial"/>
              </a:rPr>
              <a:t>COMPONENTS USED</a:t>
            </a:r>
            <a:endParaRPr>
              <a:latin typeface="Arial"/>
              <a:ea typeface="Arial"/>
              <a:cs typeface="Arial"/>
              <a:sym typeface="Arial"/>
            </a:endParaRPr>
          </a:p>
        </p:txBody>
      </p:sp>
      <p:sp>
        <p:nvSpPr>
          <p:cNvPr id="96" name="Google Shape;96;p18"/>
          <p:cNvSpPr txBox="1"/>
          <p:nvPr/>
        </p:nvSpPr>
        <p:spPr>
          <a:xfrm>
            <a:off x="951550" y="1472325"/>
            <a:ext cx="6962700" cy="3686400"/>
          </a:xfrm>
          <a:prstGeom prst="rect">
            <a:avLst/>
          </a:prstGeom>
          <a:noFill/>
          <a:ln>
            <a:noFill/>
          </a:ln>
        </p:spPr>
        <p:txBody>
          <a:bodyPr spcFirstLastPara="1" wrap="square" lIns="91425" tIns="91425" rIns="91425" bIns="91425" anchor="t" anchorCtr="0">
            <a:spAutoFit/>
          </a:bodyPr>
          <a:lstStyle/>
          <a:p>
            <a:pPr marL="457200" lvl="0" indent="-327025" algn="l" rtl="0">
              <a:spcBef>
                <a:spcPts val="0"/>
              </a:spcBef>
              <a:spcAft>
                <a:spcPts val="0"/>
              </a:spcAft>
              <a:buSzPts val="1550"/>
              <a:buFont typeface="Roboto"/>
              <a:buChar char="❖"/>
            </a:pPr>
            <a:r>
              <a:rPr lang="en" sz="1550">
                <a:latin typeface="Roboto"/>
                <a:ea typeface="Roboto"/>
                <a:cs typeface="Roboto"/>
                <a:sym typeface="Roboto"/>
              </a:rPr>
              <a:t>CD4017 IC</a:t>
            </a:r>
            <a:endParaRPr sz="1550">
              <a:latin typeface="Roboto"/>
              <a:ea typeface="Roboto"/>
              <a:cs typeface="Roboto"/>
              <a:sym typeface="Roboto"/>
            </a:endParaRPr>
          </a:p>
          <a:p>
            <a:pPr marL="457200" lvl="0" indent="-327025" algn="l" rtl="0">
              <a:spcBef>
                <a:spcPts val="0"/>
              </a:spcBef>
              <a:spcAft>
                <a:spcPts val="0"/>
              </a:spcAft>
              <a:buSzPts val="1550"/>
              <a:buFont typeface="Roboto"/>
              <a:buChar char="❖"/>
            </a:pPr>
            <a:r>
              <a:rPr lang="en" sz="1550">
                <a:latin typeface="Roboto"/>
                <a:ea typeface="Roboto"/>
                <a:cs typeface="Roboto"/>
                <a:sym typeface="Roboto"/>
              </a:rPr>
              <a:t>LM358 IC</a:t>
            </a:r>
            <a:endParaRPr sz="1550">
              <a:latin typeface="Roboto"/>
              <a:ea typeface="Roboto"/>
              <a:cs typeface="Roboto"/>
              <a:sym typeface="Roboto"/>
            </a:endParaRPr>
          </a:p>
          <a:p>
            <a:pPr marL="457200" lvl="0" indent="-327025" algn="l" rtl="0">
              <a:spcBef>
                <a:spcPts val="0"/>
              </a:spcBef>
              <a:spcAft>
                <a:spcPts val="0"/>
              </a:spcAft>
              <a:buSzPts val="1550"/>
              <a:buFont typeface="Roboto"/>
              <a:buChar char="❖"/>
            </a:pPr>
            <a:r>
              <a:rPr lang="en" sz="1550">
                <a:latin typeface="Roboto"/>
                <a:ea typeface="Roboto"/>
                <a:cs typeface="Roboto"/>
                <a:sym typeface="Roboto"/>
              </a:rPr>
              <a:t>BC547 Transistor</a:t>
            </a:r>
            <a:endParaRPr sz="1550">
              <a:latin typeface="Roboto"/>
              <a:ea typeface="Roboto"/>
              <a:cs typeface="Roboto"/>
              <a:sym typeface="Roboto"/>
            </a:endParaRPr>
          </a:p>
          <a:p>
            <a:pPr marL="457200" lvl="0" indent="-327025" algn="l" rtl="0">
              <a:spcBef>
                <a:spcPts val="0"/>
              </a:spcBef>
              <a:spcAft>
                <a:spcPts val="0"/>
              </a:spcAft>
              <a:buSzPts val="1550"/>
              <a:buFont typeface="Roboto"/>
              <a:buChar char="❖"/>
            </a:pPr>
            <a:r>
              <a:rPr lang="en" sz="1550">
                <a:latin typeface="Roboto"/>
                <a:ea typeface="Roboto"/>
                <a:cs typeface="Roboto"/>
                <a:sym typeface="Roboto"/>
              </a:rPr>
              <a:t>100uF 25V Capacitor</a:t>
            </a:r>
            <a:endParaRPr sz="1550">
              <a:latin typeface="Roboto"/>
              <a:ea typeface="Roboto"/>
              <a:cs typeface="Roboto"/>
              <a:sym typeface="Roboto"/>
            </a:endParaRPr>
          </a:p>
          <a:p>
            <a:pPr marL="457200" lvl="0" indent="-327025" algn="l" rtl="0">
              <a:spcBef>
                <a:spcPts val="0"/>
              </a:spcBef>
              <a:spcAft>
                <a:spcPts val="0"/>
              </a:spcAft>
              <a:buSzPts val="1550"/>
              <a:buFont typeface="Roboto"/>
              <a:buChar char="❖"/>
            </a:pPr>
            <a:r>
              <a:rPr lang="en" sz="1550">
                <a:latin typeface="Roboto"/>
                <a:ea typeface="Roboto"/>
                <a:cs typeface="Roboto"/>
                <a:sym typeface="Roboto"/>
              </a:rPr>
              <a:t>1000uF 25V Capacitor</a:t>
            </a:r>
            <a:endParaRPr sz="1550">
              <a:latin typeface="Roboto"/>
              <a:ea typeface="Roboto"/>
              <a:cs typeface="Roboto"/>
              <a:sym typeface="Roboto"/>
            </a:endParaRPr>
          </a:p>
          <a:p>
            <a:pPr marL="457200" lvl="0" indent="-327025" algn="l" rtl="0">
              <a:spcBef>
                <a:spcPts val="0"/>
              </a:spcBef>
              <a:spcAft>
                <a:spcPts val="0"/>
              </a:spcAft>
              <a:buSzPts val="1550"/>
              <a:buFont typeface="Roboto"/>
              <a:buChar char="❖"/>
            </a:pPr>
            <a:r>
              <a:rPr lang="en" sz="1550">
                <a:latin typeface="Roboto"/>
                <a:ea typeface="Roboto"/>
                <a:cs typeface="Roboto"/>
                <a:sym typeface="Roboto"/>
              </a:rPr>
              <a:t>220-ohm 0.25watt Resistors - 4 no</a:t>
            </a:r>
            <a:endParaRPr sz="1550">
              <a:latin typeface="Roboto"/>
              <a:ea typeface="Roboto"/>
              <a:cs typeface="Roboto"/>
              <a:sym typeface="Roboto"/>
            </a:endParaRPr>
          </a:p>
          <a:p>
            <a:pPr marL="457200" lvl="0" indent="-327025" algn="l" rtl="0">
              <a:spcBef>
                <a:spcPts val="0"/>
              </a:spcBef>
              <a:spcAft>
                <a:spcPts val="0"/>
              </a:spcAft>
              <a:buSzPts val="1550"/>
              <a:buFont typeface="Roboto"/>
              <a:buChar char="❖"/>
            </a:pPr>
            <a:r>
              <a:rPr lang="en" sz="1550">
                <a:latin typeface="Roboto"/>
                <a:ea typeface="Roboto"/>
                <a:cs typeface="Roboto"/>
                <a:sym typeface="Roboto"/>
              </a:rPr>
              <a:t>10k 0.25watt Resistor</a:t>
            </a:r>
            <a:endParaRPr sz="1550">
              <a:latin typeface="Roboto"/>
              <a:ea typeface="Roboto"/>
              <a:cs typeface="Roboto"/>
              <a:sym typeface="Roboto"/>
            </a:endParaRPr>
          </a:p>
          <a:p>
            <a:pPr marL="457200" lvl="0" indent="-327025" algn="l" rtl="0">
              <a:spcBef>
                <a:spcPts val="0"/>
              </a:spcBef>
              <a:spcAft>
                <a:spcPts val="0"/>
              </a:spcAft>
              <a:buSzPts val="1550"/>
              <a:buFont typeface="Roboto"/>
              <a:buChar char="❖"/>
            </a:pPr>
            <a:r>
              <a:rPr lang="en" sz="1550">
                <a:latin typeface="Roboto"/>
                <a:ea typeface="Roboto"/>
                <a:cs typeface="Roboto"/>
                <a:sym typeface="Roboto"/>
              </a:rPr>
              <a:t>10k Trimmer</a:t>
            </a:r>
            <a:endParaRPr sz="1550">
              <a:latin typeface="Roboto"/>
              <a:ea typeface="Roboto"/>
              <a:cs typeface="Roboto"/>
              <a:sym typeface="Roboto"/>
            </a:endParaRPr>
          </a:p>
          <a:p>
            <a:pPr marL="457200" lvl="0" indent="-327025" algn="l" rtl="0">
              <a:spcBef>
                <a:spcPts val="0"/>
              </a:spcBef>
              <a:spcAft>
                <a:spcPts val="0"/>
              </a:spcAft>
              <a:buSzPts val="1550"/>
              <a:buFont typeface="Roboto"/>
              <a:buChar char="❖"/>
            </a:pPr>
            <a:r>
              <a:rPr lang="en" sz="1550">
                <a:latin typeface="Roboto"/>
                <a:ea typeface="Roboto"/>
                <a:cs typeface="Roboto"/>
                <a:sym typeface="Roboto"/>
              </a:rPr>
              <a:t>LED 5mm - 2no</a:t>
            </a:r>
            <a:endParaRPr sz="1550">
              <a:latin typeface="Roboto"/>
              <a:ea typeface="Roboto"/>
              <a:cs typeface="Roboto"/>
              <a:sym typeface="Roboto"/>
            </a:endParaRPr>
          </a:p>
          <a:p>
            <a:pPr marL="457200" lvl="0" indent="-327025" algn="l" rtl="0">
              <a:spcBef>
                <a:spcPts val="0"/>
              </a:spcBef>
              <a:spcAft>
                <a:spcPts val="0"/>
              </a:spcAft>
              <a:buSzPts val="1550"/>
              <a:buFont typeface="Roboto"/>
              <a:buChar char="❖"/>
            </a:pPr>
            <a:r>
              <a:rPr lang="en" sz="1550">
                <a:latin typeface="Roboto"/>
                <a:ea typeface="Roboto"/>
                <a:cs typeface="Roboto"/>
                <a:sym typeface="Roboto"/>
              </a:rPr>
              <a:t>IR LED pair (Detector &amp; Emitter)</a:t>
            </a:r>
            <a:endParaRPr sz="1550">
              <a:latin typeface="Roboto"/>
              <a:ea typeface="Roboto"/>
              <a:cs typeface="Roboto"/>
              <a:sym typeface="Roboto"/>
            </a:endParaRPr>
          </a:p>
          <a:p>
            <a:pPr marL="457200" lvl="0" indent="-327025" algn="l" rtl="0">
              <a:spcBef>
                <a:spcPts val="0"/>
              </a:spcBef>
              <a:spcAft>
                <a:spcPts val="0"/>
              </a:spcAft>
              <a:buSzPts val="1550"/>
              <a:buFont typeface="Roboto"/>
              <a:buChar char="❖"/>
            </a:pPr>
            <a:r>
              <a:rPr lang="en" sz="1550">
                <a:latin typeface="Roboto"/>
                <a:ea typeface="Roboto"/>
                <a:cs typeface="Roboto"/>
                <a:sym typeface="Roboto"/>
              </a:rPr>
              <a:t>1N4007 Diode</a:t>
            </a:r>
            <a:endParaRPr sz="1550">
              <a:latin typeface="Roboto"/>
              <a:ea typeface="Roboto"/>
              <a:cs typeface="Roboto"/>
              <a:sym typeface="Roboto"/>
            </a:endParaRPr>
          </a:p>
          <a:p>
            <a:pPr marL="457200" lvl="0" indent="-327025" algn="l" rtl="0">
              <a:spcBef>
                <a:spcPts val="0"/>
              </a:spcBef>
              <a:spcAft>
                <a:spcPts val="0"/>
              </a:spcAft>
              <a:buSzPts val="1550"/>
              <a:buFont typeface="Roboto"/>
              <a:buChar char="❖"/>
            </a:pPr>
            <a:r>
              <a:rPr lang="en" sz="1550">
                <a:latin typeface="Roboto"/>
                <a:ea typeface="Roboto"/>
                <a:cs typeface="Roboto"/>
                <a:sym typeface="Roboto"/>
              </a:rPr>
              <a:t>5V SPDT Relay</a:t>
            </a:r>
            <a:endParaRPr sz="1550">
              <a:latin typeface="Roboto"/>
              <a:ea typeface="Roboto"/>
              <a:cs typeface="Roboto"/>
              <a:sym typeface="Roboto"/>
            </a:endParaRPr>
          </a:p>
          <a:p>
            <a:pPr marL="457200" lvl="0" indent="-327025" algn="l" rtl="0">
              <a:spcBef>
                <a:spcPts val="0"/>
              </a:spcBef>
              <a:spcAft>
                <a:spcPts val="0"/>
              </a:spcAft>
              <a:buSzPts val="1550"/>
              <a:buFont typeface="Roboto"/>
              <a:buChar char="❖"/>
            </a:pPr>
            <a:r>
              <a:rPr lang="en" sz="1550">
                <a:latin typeface="Roboto"/>
                <a:ea typeface="Roboto"/>
                <a:cs typeface="Roboto"/>
                <a:sym typeface="Roboto"/>
              </a:rPr>
              <a:t>Connectors &amp; IC Base</a:t>
            </a:r>
            <a:endParaRPr sz="1550">
              <a:latin typeface="Roboto"/>
              <a:ea typeface="Roboto"/>
              <a:cs typeface="Roboto"/>
              <a:sym typeface="Roboto"/>
            </a:endParaRPr>
          </a:p>
          <a:p>
            <a:pPr marL="457200" lvl="0" indent="-327025" algn="l" rtl="0">
              <a:spcBef>
                <a:spcPts val="0"/>
              </a:spcBef>
              <a:spcAft>
                <a:spcPts val="0"/>
              </a:spcAft>
              <a:buSzPts val="1550"/>
              <a:buFont typeface="Roboto"/>
              <a:buChar char="❖"/>
            </a:pPr>
            <a:r>
              <a:rPr lang="en" sz="1550">
                <a:latin typeface="Roboto"/>
                <a:ea typeface="Roboto"/>
                <a:cs typeface="Roboto"/>
                <a:sym typeface="Roboto"/>
              </a:rPr>
              <a:t>Acrylic sheet or customised pcb</a:t>
            </a:r>
            <a:endParaRPr sz="1850"/>
          </a:p>
          <a:p>
            <a:pPr marL="0" lvl="0" indent="0" algn="l" rtl="0">
              <a:lnSpc>
                <a:spcPct val="115000"/>
              </a:lnSpc>
              <a:spcBef>
                <a:spcPts val="0"/>
              </a:spcBef>
              <a:spcAft>
                <a:spcPts val="0"/>
              </a:spcAft>
              <a:buNone/>
            </a:pPr>
            <a:endParaRPr sz="1050">
              <a:solidFill>
                <a:srgbClr val="FFFFFF"/>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311725" y="417900"/>
            <a:ext cx="8520600" cy="706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133" dirty="0">
                <a:latin typeface="Arial"/>
                <a:ea typeface="Arial"/>
                <a:cs typeface="Arial"/>
                <a:sym typeface="Arial"/>
              </a:rPr>
              <a:t>TOOLS USED</a:t>
            </a:r>
            <a:endParaRPr sz="3133" dirty="0">
              <a:latin typeface="Arial"/>
              <a:ea typeface="Arial"/>
              <a:cs typeface="Arial"/>
              <a:sym typeface="Arial"/>
            </a:endParaRPr>
          </a:p>
          <a:p>
            <a:pPr marL="0" lvl="0" indent="0" algn="l" rtl="0">
              <a:spcBef>
                <a:spcPts val="0"/>
              </a:spcBef>
              <a:spcAft>
                <a:spcPts val="0"/>
              </a:spcAft>
              <a:buNone/>
            </a:pPr>
            <a:endParaRPr dirty="0"/>
          </a:p>
        </p:txBody>
      </p:sp>
      <p:sp>
        <p:nvSpPr>
          <p:cNvPr id="102" name="Google Shape;102;p19"/>
          <p:cNvSpPr txBox="1">
            <a:spLocks noGrp="1"/>
          </p:cNvSpPr>
          <p:nvPr>
            <p:ph type="body" idx="4294967295"/>
          </p:nvPr>
        </p:nvSpPr>
        <p:spPr>
          <a:xfrm>
            <a:off x="-6429" y="1375900"/>
            <a:ext cx="8975400" cy="3594000"/>
          </a:xfrm>
          <a:prstGeom prst="rect">
            <a:avLst/>
          </a:prstGeom>
        </p:spPr>
        <p:txBody>
          <a:bodyPr spcFirstLastPara="1" wrap="square" lIns="91425" tIns="91425" rIns="91425" bIns="91425" anchor="t" anchorCtr="0">
            <a:normAutofit fontScale="25000" lnSpcReduction="20000"/>
          </a:bodyPr>
          <a:lstStyle/>
          <a:p>
            <a:pPr marL="457200" lvl="0" indent="0" algn="l" rtl="0">
              <a:spcBef>
                <a:spcPts val="1200"/>
              </a:spcBef>
              <a:spcAft>
                <a:spcPts val="0"/>
              </a:spcAft>
              <a:buNone/>
            </a:pPr>
            <a:r>
              <a:rPr lang="en" sz="5908" dirty="0">
                <a:solidFill>
                  <a:srgbClr val="000000"/>
                </a:solidFill>
                <a:latin typeface="Arial"/>
                <a:ea typeface="Arial"/>
                <a:cs typeface="Arial"/>
                <a:sym typeface="Arial"/>
              </a:rPr>
              <a:t>• 	</a:t>
            </a:r>
            <a:r>
              <a:rPr lang="en" sz="5908" b="1" dirty="0">
                <a:solidFill>
                  <a:srgbClr val="000000"/>
                </a:solidFill>
                <a:latin typeface="Arial"/>
                <a:ea typeface="Arial"/>
                <a:cs typeface="Arial"/>
                <a:sym typeface="Arial"/>
              </a:rPr>
              <a:t>Breadboard</a:t>
            </a:r>
            <a:r>
              <a:rPr lang="en" sz="5908" dirty="0">
                <a:solidFill>
                  <a:srgbClr val="000000"/>
                </a:solidFill>
                <a:latin typeface="Arial"/>
                <a:ea typeface="Arial"/>
                <a:cs typeface="Arial"/>
                <a:sym typeface="Arial"/>
              </a:rPr>
              <a:t> – for prototyping the circuit without soldering</a:t>
            </a:r>
            <a:endParaRPr sz="5908" dirty="0">
              <a:solidFill>
                <a:srgbClr val="000000"/>
              </a:solidFill>
              <a:latin typeface="Arial"/>
              <a:ea typeface="Arial"/>
              <a:cs typeface="Arial"/>
              <a:sym typeface="Arial"/>
            </a:endParaRPr>
          </a:p>
          <a:p>
            <a:pPr marL="457200" lvl="0" indent="0" algn="l" rtl="0">
              <a:spcBef>
                <a:spcPts val="1200"/>
              </a:spcBef>
              <a:spcAft>
                <a:spcPts val="0"/>
              </a:spcAft>
              <a:buNone/>
            </a:pPr>
            <a:r>
              <a:rPr lang="en" sz="5908" dirty="0">
                <a:solidFill>
                  <a:srgbClr val="000000"/>
                </a:solidFill>
                <a:latin typeface="Arial"/>
                <a:ea typeface="Arial"/>
                <a:cs typeface="Arial"/>
                <a:sym typeface="Arial"/>
              </a:rPr>
              <a:t>• 	</a:t>
            </a:r>
            <a:r>
              <a:rPr lang="en" sz="5908" b="1" dirty="0">
                <a:solidFill>
                  <a:srgbClr val="000000"/>
                </a:solidFill>
                <a:latin typeface="Arial"/>
                <a:ea typeface="Arial"/>
                <a:cs typeface="Arial"/>
                <a:sym typeface="Arial"/>
              </a:rPr>
              <a:t>Multimeter</a:t>
            </a:r>
            <a:r>
              <a:rPr lang="en" sz="5908" dirty="0">
                <a:solidFill>
                  <a:srgbClr val="000000"/>
                </a:solidFill>
                <a:latin typeface="Arial"/>
                <a:ea typeface="Arial"/>
                <a:cs typeface="Arial"/>
                <a:sym typeface="Arial"/>
              </a:rPr>
              <a:t> – to measure voltage, current, and check continuity</a:t>
            </a:r>
            <a:endParaRPr sz="5908" dirty="0">
              <a:solidFill>
                <a:srgbClr val="000000"/>
              </a:solidFill>
              <a:latin typeface="Arial"/>
              <a:ea typeface="Arial"/>
              <a:cs typeface="Arial"/>
              <a:sym typeface="Arial"/>
            </a:endParaRPr>
          </a:p>
          <a:p>
            <a:pPr marL="457200" lvl="0" indent="0" algn="l" rtl="0">
              <a:spcBef>
                <a:spcPts val="1200"/>
              </a:spcBef>
              <a:spcAft>
                <a:spcPts val="0"/>
              </a:spcAft>
              <a:buNone/>
            </a:pPr>
            <a:r>
              <a:rPr lang="en" sz="5908" dirty="0">
                <a:solidFill>
                  <a:srgbClr val="000000"/>
                </a:solidFill>
                <a:latin typeface="Arial"/>
                <a:ea typeface="Arial"/>
                <a:cs typeface="Arial"/>
                <a:sym typeface="Arial"/>
              </a:rPr>
              <a:t>• 	</a:t>
            </a:r>
            <a:r>
              <a:rPr lang="en" sz="5908" b="1" dirty="0">
                <a:solidFill>
                  <a:srgbClr val="000000"/>
                </a:solidFill>
                <a:latin typeface="Arial"/>
                <a:ea typeface="Arial"/>
                <a:cs typeface="Arial"/>
                <a:sym typeface="Arial"/>
              </a:rPr>
              <a:t>Soldering iron and solder wire</a:t>
            </a:r>
            <a:r>
              <a:rPr lang="en" sz="5908" dirty="0">
                <a:solidFill>
                  <a:srgbClr val="000000"/>
                </a:solidFill>
                <a:latin typeface="Arial"/>
                <a:ea typeface="Arial"/>
                <a:cs typeface="Arial"/>
                <a:sym typeface="Arial"/>
              </a:rPr>
              <a:t> – for permanent circuit assembly (if moving to PCB)</a:t>
            </a:r>
            <a:endParaRPr sz="5908" dirty="0">
              <a:solidFill>
                <a:srgbClr val="000000"/>
              </a:solidFill>
              <a:latin typeface="Arial"/>
              <a:ea typeface="Arial"/>
              <a:cs typeface="Arial"/>
              <a:sym typeface="Arial"/>
            </a:endParaRPr>
          </a:p>
          <a:p>
            <a:pPr marL="457200" lvl="0" indent="0" algn="l" rtl="0">
              <a:spcBef>
                <a:spcPts val="1200"/>
              </a:spcBef>
              <a:spcAft>
                <a:spcPts val="0"/>
              </a:spcAft>
              <a:buNone/>
            </a:pPr>
            <a:r>
              <a:rPr lang="en" sz="5908" dirty="0">
                <a:solidFill>
                  <a:srgbClr val="000000"/>
                </a:solidFill>
                <a:latin typeface="Arial"/>
                <a:ea typeface="Arial"/>
                <a:cs typeface="Arial"/>
                <a:sym typeface="Arial"/>
              </a:rPr>
              <a:t>• 	</a:t>
            </a:r>
            <a:r>
              <a:rPr lang="en" sz="5908" b="1" dirty="0">
                <a:solidFill>
                  <a:srgbClr val="000000"/>
                </a:solidFill>
                <a:latin typeface="Arial"/>
                <a:ea typeface="Arial"/>
                <a:cs typeface="Arial"/>
                <a:sym typeface="Arial"/>
              </a:rPr>
              <a:t>Wire stripper and cutter</a:t>
            </a:r>
            <a:r>
              <a:rPr lang="en" sz="5908" dirty="0">
                <a:solidFill>
                  <a:srgbClr val="000000"/>
                </a:solidFill>
                <a:latin typeface="Arial"/>
                <a:ea typeface="Arial"/>
                <a:cs typeface="Arial"/>
                <a:sym typeface="Arial"/>
              </a:rPr>
              <a:t> – for preparing jumper wires and connections</a:t>
            </a:r>
            <a:endParaRPr sz="5908" dirty="0">
              <a:solidFill>
                <a:srgbClr val="000000"/>
              </a:solidFill>
              <a:latin typeface="Arial"/>
              <a:ea typeface="Arial"/>
              <a:cs typeface="Arial"/>
              <a:sym typeface="Arial"/>
            </a:endParaRPr>
          </a:p>
          <a:p>
            <a:pPr marL="457200" lvl="0" indent="0" algn="l" rtl="0">
              <a:spcBef>
                <a:spcPts val="1200"/>
              </a:spcBef>
              <a:spcAft>
                <a:spcPts val="0"/>
              </a:spcAft>
              <a:buNone/>
            </a:pPr>
            <a:r>
              <a:rPr lang="en" sz="5908" dirty="0">
                <a:solidFill>
                  <a:srgbClr val="000000"/>
                </a:solidFill>
                <a:latin typeface="Arial"/>
                <a:ea typeface="Arial"/>
                <a:cs typeface="Arial"/>
                <a:sym typeface="Arial"/>
              </a:rPr>
              <a:t>• 	</a:t>
            </a:r>
            <a:r>
              <a:rPr lang="en" sz="5908" b="1" dirty="0">
                <a:solidFill>
                  <a:srgbClr val="000000"/>
                </a:solidFill>
                <a:latin typeface="Arial"/>
                <a:ea typeface="Arial"/>
                <a:cs typeface="Arial"/>
                <a:sym typeface="Arial"/>
              </a:rPr>
              <a:t>Power supply unit or battery pack</a:t>
            </a:r>
            <a:r>
              <a:rPr lang="en" sz="5908" dirty="0">
                <a:solidFill>
                  <a:srgbClr val="000000"/>
                </a:solidFill>
                <a:latin typeface="Arial"/>
                <a:ea typeface="Arial"/>
                <a:cs typeface="Arial"/>
                <a:sym typeface="Arial"/>
              </a:rPr>
              <a:t> – to provide regulated voltage (5V or 12V)</a:t>
            </a:r>
            <a:endParaRPr sz="5908" dirty="0">
              <a:solidFill>
                <a:srgbClr val="000000"/>
              </a:solidFill>
              <a:latin typeface="Arial"/>
              <a:ea typeface="Arial"/>
              <a:cs typeface="Arial"/>
              <a:sym typeface="Arial"/>
            </a:endParaRPr>
          </a:p>
          <a:p>
            <a:pPr marL="457200" lvl="0" indent="0" algn="l" rtl="0">
              <a:spcBef>
                <a:spcPts val="1200"/>
              </a:spcBef>
              <a:spcAft>
                <a:spcPts val="0"/>
              </a:spcAft>
              <a:buNone/>
            </a:pPr>
            <a:r>
              <a:rPr lang="en" sz="5908" dirty="0">
                <a:solidFill>
                  <a:srgbClr val="000000"/>
                </a:solidFill>
                <a:latin typeface="Arial"/>
                <a:ea typeface="Arial"/>
                <a:cs typeface="Arial"/>
                <a:sym typeface="Arial"/>
              </a:rPr>
              <a:t>• 	</a:t>
            </a:r>
            <a:r>
              <a:rPr lang="en" sz="5908" b="1" dirty="0">
                <a:solidFill>
                  <a:srgbClr val="000000"/>
                </a:solidFill>
                <a:latin typeface="Arial"/>
                <a:ea typeface="Arial"/>
                <a:cs typeface="Arial"/>
                <a:sym typeface="Arial"/>
              </a:rPr>
              <a:t>Logic probe or oscilloscope</a:t>
            </a:r>
            <a:r>
              <a:rPr lang="en" sz="5908" dirty="0">
                <a:solidFill>
                  <a:srgbClr val="000000"/>
                </a:solidFill>
                <a:latin typeface="Arial"/>
                <a:ea typeface="Arial"/>
                <a:cs typeface="Arial"/>
                <a:sym typeface="Arial"/>
              </a:rPr>
              <a:t> – for testing logic gate outputs and signal flow</a:t>
            </a:r>
            <a:endParaRPr sz="5908" dirty="0">
              <a:solidFill>
                <a:srgbClr val="000000"/>
              </a:solidFill>
              <a:latin typeface="Arial"/>
              <a:ea typeface="Arial"/>
              <a:cs typeface="Arial"/>
              <a:sym typeface="Arial"/>
            </a:endParaRPr>
          </a:p>
          <a:p>
            <a:pPr marL="457200" lvl="0" indent="0" algn="l" rtl="0">
              <a:spcBef>
                <a:spcPts val="1200"/>
              </a:spcBef>
              <a:spcAft>
                <a:spcPts val="0"/>
              </a:spcAft>
              <a:buNone/>
            </a:pPr>
            <a:r>
              <a:rPr lang="en" sz="5908" dirty="0">
                <a:solidFill>
                  <a:srgbClr val="000000"/>
                </a:solidFill>
                <a:latin typeface="Arial"/>
                <a:ea typeface="Arial"/>
                <a:cs typeface="Arial"/>
                <a:sym typeface="Arial"/>
              </a:rPr>
              <a:t>• 	</a:t>
            </a:r>
            <a:r>
              <a:rPr lang="en" sz="5908" b="1" dirty="0">
                <a:solidFill>
                  <a:srgbClr val="000000"/>
                </a:solidFill>
                <a:latin typeface="Arial"/>
                <a:ea typeface="Arial"/>
                <a:cs typeface="Arial"/>
                <a:sym typeface="Arial"/>
              </a:rPr>
              <a:t>Simulation software</a:t>
            </a:r>
            <a:r>
              <a:rPr lang="en" sz="5908" dirty="0">
                <a:solidFill>
                  <a:srgbClr val="000000"/>
                </a:solidFill>
                <a:latin typeface="Arial"/>
                <a:ea typeface="Arial"/>
                <a:cs typeface="Arial"/>
                <a:sym typeface="Arial"/>
              </a:rPr>
              <a:t> – like Proteus, Multisim, or LTspice for virtual testing</a:t>
            </a:r>
            <a:endParaRPr sz="5908" dirty="0">
              <a:solidFill>
                <a:srgbClr val="000000"/>
              </a:solidFill>
              <a:latin typeface="Arial"/>
              <a:ea typeface="Arial"/>
              <a:cs typeface="Arial"/>
              <a:sym typeface="Arial"/>
            </a:endParaRPr>
          </a:p>
          <a:p>
            <a:pPr marL="457200" lvl="0" indent="0" algn="l" rtl="0">
              <a:spcBef>
                <a:spcPts val="1200"/>
              </a:spcBef>
              <a:spcAft>
                <a:spcPts val="0"/>
              </a:spcAft>
              <a:buNone/>
            </a:pPr>
            <a:r>
              <a:rPr lang="en" sz="5908" dirty="0">
                <a:solidFill>
                  <a:srgbClr val="000000"/>
                </a:solidFill>
                <a:latin typeface="Arial"/>
                <a:ea typeface="Arial"/>
                <a:cs typeface="Arial"/>
                <a:sym typeface="Arial"/>
              </a:rPr>
              <a:t>• 	</a:t>
            </a:r>
            <a:r>
              <a:rPr lang="en" sz="5908" b="1" dirty="0">
                <a:solidFill>
                  <a:srgbClr val="000000"/>
                </a:solidFill>
                <a:latin typeface="Arial"/>
                <a:ea typeface="Arial"/>
                <a:cs typeface="Arial"/>
                <a:sym typeface="Arial"/>
              </a:rPr>
              <a:t>PCB design software </a:t>
            </a:r>
            <a:r>
              <a:rPr lang="en" sz="5908" dirty="0">
                <a:solidFill>
                  <a:srgbClr val="000000"/>
                </a:solidFill>
                <a:latin typeface="Arial"/>
                <a:ea typeface="Arial"/>
                <a:cs typeface="Arial"/>
                <a:sym typeface="Arial"/>
              </a:rPr>
              <a:t>– such as TinkerCad or Eagle, if you're planning a custom board</a:t>
            </a:r>
            <a:endParaRPr sz="5908" dirty="0">
              <a:solidFill>
                <a:srgbClr val="000000"/>
              </a:solidFill>
              <a:latin typeface="Arial"/>
              <a:ea typeface="Arial"/>
              <a:cs typeface="Arial"/>
              <a:sym typeface="Arial"/>
            </a:endParaRPr>
          </a:p>
          <a:p>
            <a:pPr marL="457200" lvl="0" indent="0" algn="l" rtl="0">
              <a:spcBef>
                <a:spcPts val="1200"/>
              </a:spcBef>
              <a:spcAft>
                <a:spcPts val="0"/>
              </a:spcAft>
              <a:buNone/>
            </a:pPr>
            <a:r>
              <a:rPr lang="en" sz="5908" dirty="0">
                <a:solidFill>
                  <a:srgbClr val="000000"/>
                </a:solidFill>
                <a:latin typeface="Arial"/>
                <a:ea typeface="Arial"/>
                <a:cs typeface="Arial"/>
                <a:sym typeface="Arial"/>
              </a:rPr>
              <a:t>• 	</a:t>
            </a:r>
            <a:r>
              <a:rPr lang="en" sz="5908" b="1" dirty="0">
                <a:solidFill>
                  <a:srgbClr val="000000"/>
                </a:solidFill>
                <a:latin typeface="Arial"/>
                <a:ea typeface="Arial"/>
                <a:cs typeface="Arial"/>
                <a:sym typeface="Arial"/>
              </a:rPr>
              <a:t>Schematic drawing tools</a:t>
            </a:r>
            <a:r>
              <a:rPr lang="en" sz="5908" dirty="0">
                <a:solidFill>
                  <a:srgbClr val="000000"/>
                </a:solidFill>
                <a:latin typeface="Arial"/>
                <a:ea typeface="Arial"/>
                <a:cs typeface="Arial"/>
                <a:sym typeface="Arial"/>
              </a:rPr>
              <a:t> – like Fritzing or EasyEDA for documentation and block  diagrams</a:t>
            </a:r>
            <a:endParaRPr sz="5908" dirty="0">
              <a:solidFill>
                <a:srgbClr val="000000"/>
              </a:solidFill>
              <a:latin typeface="Arial"/>
              <a:ea typeface="Arial"/>
              <a:cs typeface="Arial"/>
              <a:sym typeface="Arial"/>
            </a:endParaRPr>
          </a:p>
          <a:p>
            <a:pPr marL="457200" lvl="0" indent="0" algn="l" rtl="0">
              <a:spcBef>
                <a:spcPts val="1200"/>
              </a:spcBef>
              <a:spcAft>
                <a:spcPts val="0"/>
              </a:spcAft>
              <a:buNone/>
            </a:pPr>
            <a:endParaRPr sz="5908" b="1" dirty="0">
              <a:solidFill>
                <a:srgbClr val="000000"/>
              </a:solidFill>
              <a:latin typeface="Arial"/>
              <a:ea typeface="Arial"/>
              <a:cs typeface="Arial"/>
              <a:sym typeface="Arial"/>
            </a:endParaRPr>
          </a:p>
          <a:p>
            <a:pPr marL="0" lvl="0" indent="0" algn="just" rtl="0">
              <a:spcBef>
                <a:spcPts val="1200"/>
              </a:spcBef>
              <a:spcAft>
                <a:spcPts val="0"/>
              </a:spcAft>
              <a:buNone/>
            </a:pPr>
            <a:endParaRPr sz="1500" dirty="0">
              <a:solidFill>
                <a:srgbClr val="000000"/>
              </a:solidFill>
              <a:latin typeface="Arial"/>
              <a:ea typeface="Arial"/>
              <a:cs typeface="Arial"/>
              <a:sym typeface="Arial"/>
            </a:endParaRPr>
          </a:p>
          <a:p>
            <a:pPr marL="0" lvl="0" indent="0" algn="l" rtl="0">
              <a:spcBef>
                <a:spcPts val="1200"/>
              </a:spcBef>
              <a:spcAft>
                <a:spcPts val="1200"/>
              </a:spcAft>
              <a:buNone/>
            </a:pPr>
            <a:endParaRPr dirty="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106"/>
        <p:cNvGrpSpPr/>
        <p:nvPr/>
      </p:nvGrpSpPr>
      <p:grpSpPr>
        <a:xfrm>
          <a:off x="0" y="0"/>
          <a:ext cx="0" cy="0"/>
          <a:chOff x="0" y="0"/>
          <a:chExt cx="0" cy="0"/>
        </a:xfrm>
      </p:grpSpPr>
      <p:sp>
        <p:nvSpPr>
          <p:cNvPr id="107" name="Google Shape;107;p2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400">
                <a:solidFill>
                  <a:srgbClr val="000000"/>
                </a:solidFill>
                <a:latin typeface="Arial"/>
                <a:ea typeface="Arial"/>
                <a:cs typeface="Arial"/>
                <a:sym typeface="Arial"/>
              </a:rPr>
              <a:t> </a:t>
            </a:r>
            <a:r>
              <a:rPr lang="en" sz="2600">
                <a:latin typeface="Arial"/>
                <a:ea typeface="Arial"/>
                <a:cs typeface="Arial"/>
                <a:sym typeface="Arial"/>
              </a:rPr>
              <a:t>PCB DESIGN AND FABRICATION TOOLS</a:t>
            </a:r>
            <a:endParaRPr sz="4000">
              <a:latin typeface="Arial"/>
              <a:ea typeface="Arial"/>
              <a:cs typeface="Arial"/>
              <a:sym typeface="Arial"/>
            </a:endParaRPr>
          </a:p>
        </p:txBody>
      </p:sp>
      <p:sp>
        <p:nvSpPr>
          <p:cNvPr id="108" name="Google Shape;108;p20"/>
          <p:cNvSpPr txBox="1"/>
          <p:nvPr/>
        </p:nvSpPr>
        <p:spPr>
          <a:xfrm>
            <a:off x="417921" y="1427325"/>
            <a:ext cx="8602800" cy="2940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a:p>
            <a:pPr marL="457200" lvl="0" indent="-311150" algn="l" rtl="0">
              <a:spcBef>
                <a:spcPts val="0"/>
              </a:spcBef>
              <a:spcAft>
                <a:spcPts val="0"/>
              </a:spcAft>
              <a:buSzPts val="1300"/>
              <a:buChar char="❖"/>
            </a:pPr>
            <a:r>
              <a:rPr lang="en" sz="1500" b="1"/>
              <a:t>Zero PCB (Homemade Method)</a:t>
            </a:r>
            <a:endParaRPr sz="1500" b="1"/>
          </a:p>
          <a:p>
            <a:pPr marL="457200" lvl="0" indent="0" algn="l" rtl="0">
              <a:spcBef>
                <a:spcPts val="0"/>
              </a:spcBef>
              <a:spcAft>
                <a:spcPts val="0"/>
              </a:spcAft>
              <a:buNone/>
            </a:pPr>
            <a:r>
              <a:rPr lang="en" sz="1500"/>
              <a:t>Simple prototyping using printed layout on cardboard or acrylic sheet.</a:t>
            </a:r>
            <a:endParaRPr sz="1500"/>
          </a:p>
          <a:p>
            <a:pPr marL="457200" lvl="0" indent="-323850" algn="l" rtl="0">
              <a:spcBef>
                <a:spcPts val="0"/>
              </a:spcBef>
              <a:spcAft>
                <a:spcPts val="0"/>
              </a:spcAft>
              <a:buSzPts val="1500"/>
              <a:buChar char="❖"/>
            </a:pPr>
            <a:r>
              <a:rPr lang="en" sz="1500" b="1"/>
              <a:t>Single-Layer PCB Design</a:t>
            </a:r>
            <a:endParaRPr sz="1500" b="1"/>
          </a:p>
          <a:p>
            <a:pPr marL="457200" lvl="0" indent="0" algn="l" rtl="0">
              <a:spcBef>
                <a:spcPts val="0"/>
              </a:spcBef>
              <a:spcAft>
                <a:spcPts val="0"/>
              </a:spcAft>
              <a:buNone/>
            </a:pPr>
            <a:r>
              <a:rPr lang="en" sz="1500"/>
              <a:t>Makes it easy to fabricate manually or via low-cost services.</a:t>
            </a:r>
            <a:endParaRPr sz="1500"/>
          </a:p>
          <a:p>
            <a:pPr marL="457200" lvl="0" indent="-323850" algn="l" rtl="0">
              <a:spcBef>
                <a:spcPts val="0"/>
              </a:spcBef>
              <a:spcAft>
                <a:spcPts val="0"/>
              </a:spcAft>
              <a:buSzPts val="1500"/>
              <a:buChar char="❖"/>
            </a:pPr>
            <a:r>
              <a:rPr lang="en" sz="1500" b="1"/>
              <a:t>Gerber File Generation</a:t>
            </a:r>
            <a:endParaRPr sz="1500" b="1"/>
          </a:p>
          <a:p>
            <a:pPr marL="457200" lvl="0" indent="0" algn="l" rtl="0">
              <a:spcBef>
                <a:spcPts val="0"/>
              </a:spcBef>
              <a:spcAft>
                <a:spcPts val="0"/>
              </a:spcAft>
              <a:buNone/>
            </a:pPr>
            <a:r>
              <a:rPr lang="en" sz="1500"/>
              <a:t>Standard format for PCB manufacturing, compatible with most fabrication services.</a:t>
            </a:r>
            <a:endParaRPr sz="1500"/>
          </a:p>
          <a:p>
            <a:pPr marL="457200" lvl="0" indent="-323850" algn="l" rtl="0">
              <a:spcBef>
                <a:spcPts val="0"/>
              </a:spcBef>
              <a:spcAft>
                <a:spcPts val="0"/>
              </a:spcAft>
              <a:buSzPts val="1500"/>
              <a:buChar char="❖"/>
            </a:pPr>
            <a:r>
              <a:rPr lang="en" sz="1500" b="1"/>
              <a:t>JLCPCB</a:t>
            </a:r>
            <a:endParaRPr sz="1500" b="1"/>
          </a:p>
          <a:p>
            <a:pPr marL="457200" lvl="0" indent="0" algn="l" rtl="0">
              <a:spcBef>
                <a:spcPts val="0"/>
              </a:spcBef>
              <a:spcAft>
                <a:spcPts val="0"/>
              </a:spcAft>
              <a:buNone/>
            </a:pPr>
            <a:r>
              <a:rPr lang="en" sz="1500"/>
              <a:t>Used for professional PCB prototyping—affordable and supports multiple colors.</a:t>
            </a:r>
            <a:endParaRPr sz="1500"/>
          </a:p>
          <a:p>
            <a:pPr marL="457200" lvl="0" indent="-323850" algn="l" rtl="0">
              <a:spcBef>
                <a:spcPts val="0"/>
              </a:spcBef>
              <a:spcAft>
                <a:spcPts val="0"/>
              </a:spcAft>
              <a:buSzPts val="1500"/>
              <a:buChar char="❖"/>
            </a:pPr>
            <a:r>
              <a:rPr lang="en" sz="1500" b="1"/>
              <a:t>A4 Print Method</a:t>
            </a:r>
            <a:endParaRPr sz="1500" b="1"/>
          </a:p>
          <a:p>
            <a:pPr marL="457200" lvl="0" indent="-323850" algn="l" rtl="0">
              <a:spcBef>
                <a:spcPts val="0"/>
              </a:spcBef>
              <a:spcAft>
                <a:spcPts val="0"/>
              </a:spcAft>
              <a:buSzPts val="1500"/>
              <a:buChar char="❖"/>
            </a:pPr>
            <a:r>
              <a:rPr lang="en" sz="1500" b="1"/>
              <a:t>For DIY PCB: </a:t>
            </a:r>
            <a:endParaRPr sz="1500" b="1"/>
          </a:p>
          <a:p>
            <a:pPr marL="457200" lvl="0" indent="0" algn="l" rtl="0">
              <a:spcBef>
                <a:spcPts val="0"/>
              </a:spcBef>
              <a:spcAft>
                <a:spcPts val="0"/>
              </a:spcAft>
              <a:buNone/>
            </a:pPr>
            <a:r>
              <a:rPr lang="en" sz="1500"/>
              <a:t>print the layout on paper, stick it to a board, and etch manually.</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latin typeface="Arial"/>
                <a:ea typeface="Arial"/>
                <a:cs typeface="Arial"/>
                <a:sym typeface="Arial"/>
              </a:rPr>
              <a:t>LITERATURE REVIEW</a:t>
            </a:r>
            <a:endParaRPr dirty="0">
              <a:latin typeface="Arial"/>
              <a:ea typeface="Arial"/>
              <a:cs typeface="Arial"/>
              <a:sym typeface="Arial"/>
            </a:endParaRPr>
          </a:p>
        </p:txBody>
      </p:sp>
      <p:sp>
        <p:nvSpPr>
          <p:cNvPr id="114" name="Google Shape;114;p21"/>
          <p:cNvSpPr txBox="1"/>
          <p:nvPr/>
        </p:nvSpPr>
        <p:spPr>
          <a:xfrm rot="-350">
            <a:off x="45000" y="2938253"/>
            <a:ext cx="8850900" cy="4002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1200"/>
              </a:spcBef>
              <a:spcAft>
                <a:spcPts val="1200"/>
              </a:spcAft>
              <a:buNone/>
            </a:pPr>
            <a:endParaRPr/>
          </a:p>
        </p:txBody>
      </p:sp>
      <p:sp>
        <p:nvSpPr>
          <p:cNvPr id="115" name="Google Shape;115;p21"/>
          <p:cNvSpPr txBox="1"/>
          <p:nvPr/>
        </p:nvSpPr>
        <p:spPr>
          <a:xfrm>
            <a:off x="311725" y="1433750"/>
            <a:ext cx="8432700" cy="4754348"/>
          </a:xfrm>
          <a:prstGeom prst="rect">
            <a:avLst/>
          </a:prstGeom>
          <a:noFill/>
          <a:ln>
            <a:noFill/>
          </a:ln>
        </p:spPr>
        <p:txBody>
          <a:bodyPr spcFirstLastPara="1" wrap="square" lIns="91425" tIns="91425" rIns="91425" bIns="91425" anchor="t" anchorCtr="0">
            <a:spAutoFit/>
          </a:bodyPr>
          <a:lstStyle/>
          <a:p>
            <a:pPr marL="457200" lvl="0" indent="-311150" rtl="0">
              <a:lnSpc>
                <a:spcPct val="115000"/>
              </a:lnSpc>
              <a:spcBef>
                <a:spcPts val="1200"/>
              </a:spcBef>
              <a:spcAft>
                <a:spcPts val="0"/>
              </a:spcAft>
              <a:buSzPts val="1300"/>
              <a:buChar char="❖"/>
            </a:pPr>
            <a:r>
              <a:rPr lang="en" sz="1300" b="1" dirty="0"/>
              <a:t>Introduction to Motion-Based Lighting Systems</a:t>
            </a:r>
            <a:br>
              <a:rPr lang="en" sz="1300" b="1" dirty="0"/>
            </a:br>
            <a:r>
              <a:rPr lang="en" sz="1300" dirty="0"/>
              <a:t>Automatic lighting systems based on motion detection have gained popularity for energy conservation and convenience. These systems activate lights only when movement is detected, reducing unnecessary power usage and enhancing security. Unlike microcontroller-based designs, this approach uses discrete ICs and analog components for simplicity and cost-effectiveness.</a:t>
            </a:r>
            <a:endParaRPr sz="1300" dirty="0"/>
          </a:p>
          <a:p>
            <a:pPr marL="457200" lvl="0" indent="-311150" rtl="0">
              <a:lnSpc>
                <a:spcPct val="115000"/>
              </a:lnSpc>
              <a:spcBef>
                <a:spcPts val="0"/>
              </a:spcBef>
              <a:spcAft>
                <a:spcPts val="0"/>
              </a:spcAft>
              <a:buSzPts val="1300"/>
              <a:buChar char="❖"/>
            </a:pPr>
            <a:r>
              <a:rPr lang="en" sz="1300" b="1" dirty="0"/>
              <a:t>Role of CD4017 in Sequential Control</a:t>
            </a:r>
            <a:br>
              <a:rPr lang="en" sz="1300" b="1" dirty="0"/>
            </a:br>
            <a:r>
              <a:rPr lang="en" sz="1300" dirty="0"/>
              <a:t>The CD4017 is a decade counter IC that responds to clock pulses and activates one of its 10 outputs sequentially. In motion-sensing applications, it receives pulses from an IR sensor and toggles the output state, effectively controlling the light. This eliminates the need for complex programming and allows for straightforward timing and control logic.</a:t>
            </a:r>
            <a:endParaRPr sz="1300" dirty="0"/>
          </a:p>
          <a:p>
            <a:pPr marL="457200" lvl="0" indent="-311150" rtl="0">
              <a:lnSpc>
                <a:spcPct val="115000"/>
              </a:lnSpc>
              <a:spcBef>
                <a:spcPts val="0"/>
              </a:spcBef>
              <a:spcAft>
                <a:spcPts val="0"/>
              </a:spcAft>
              <a:buSzPts val="1300"/>
              <a:buChar char="❖"/>
            </a:pPr>
            <a:r>
              <a:rPr lang="en" sz="1300" b="1" dirty="0"/>
              <a:t>Use of LM358 as a Comparator</a:t>
            </a:r>
            <a:br>
              <a:rPr lang="en" sz="1300" b="1" dirty="0"/>
            </a:br>
            <a:r>
              <a:rPr lang="en" sz="1300" dirty="0"/>
              <a:t>The LM358 dual op-amp is configured as a comparator to process analog signals from the IR sensor. When motion is detected, the voltage across the IR detector changes, and the LM358 outputs a digital HIGH signal. This signal acts as a clock input for the CD4017, initiating the switching sequence.</a:t>
            </a:r>
            <a:endParaRPr sz="1300" dirty="0"/>
          </a:p>
          <a:p>
            <a:pPr marL="457200" lvl="0" indent="0" algn="l" rtl="0">
              <a:lnSpc>
                <a:spcPct val="115000"/>
              </a:lnSpc>
              <a:spcBef>
                <a:spcPts val="1200"/>
              </a:spcBef>
              <a:spcAft>
                <a:spcPts val="0"/>
              </a:spcAft>
              <a:buNone/>
            </a:pPr>
            <a:endParaRPr sz="1100" dirty="0"/>
          </a:p>
          <a:p>
            <a:pPr marL="0" lvl="0" indent="0" algn="just" rtl="0">
              <a:lnSpc>
                <a:spcPct val="100000"/>
              </a:lnSpc>
              <a:spcBef>
                <a:spcPts val="1200"/>
              </a:spcBef>
              <a:spcAft>
                <a:spcPts val="0"/>
              </a:spcAft>
              <a:buNone/>
            </a:pPr>
            <a:endParaRPr sz="1300" b="1" dirty="0"/>
          </a:p>
          <a:p>
            <a:pPr marL="0" lvl="0" indent="0" algn="just" rtl="0">
              <a:lnSpc>
                <a:spcPct val="100000"/>
              </a:lnSpc>
              <a:spcBef>
                <a:spcPts val="1200"/>
              </a:spcBef>
              <a:spcAft>
                <a:spcPts val="1200"/>
              </a:spcAft>
              <a:buNone/>
            </a:pPr>
            <a:endParaRPr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latin typeface="Arial"/>
                <a:ea typeface="Arial"/>
                <a:cs typeface="Arial"/>
                <a:sym typeface="Arial"/>
              </a:rPr>
              <a:t>LITERATURE REVIEW</a:t>
            </a:r>
            <a:endParaRPr dirty="0">
              <a:latin typeface="Arial"/>
              <a:ea typeface="Arial"/>
              <a:cs typeface="Arial"/>
              <a:sym typeface="Arial"/>
            </a:endParaRPr>
          </a:p>
        </p:txBody>
      </p:sp>
      <p:sp>
        <p:nvSpPr>
          <p:cNvPr id="121" name="Google Shape;121;p22"/>
          <p:cNvSpPr txBox="1"/>
          <p:nvPr/>
        </p:nvSpPr>
        <p:spPr>
          <a:xfrm>
            <a:off x="0" y="1478775"/>
            <a:ext cx="8850900" cy="4002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1200"/>
              </a:spcBef>
              <a:spcAft>
                <a:spcPts val="1200"/>
              </a:spcAft>
              <a:buNone/>
            </a:pPr>
            <a:endParaRPr/>
          </a:p>
        </p:txBody>
      </p:sp>
      <p:sp>
        <p:nvSpPr>
          <p:cNvPr id="122" name="Google Shape;122;p22"/>
          <p:cNvSpPr txBox="1"/>
          <p:nvPr/>
        </p:nvSpPr>
        <p:spPr>
          <a:xfrm rot="-350">
            <a:off x="45000" y="2938253"/>
            <a:ext cx="8850900" cy="4002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1200"/>
              </a:spcBef>
              <a:spcAft>
                <a:spcPts val="1200"/>
              </a:spcAft>
              <a:buNone/>
            </a:pPr>
            <a:endParaRPr/>
          </a:p>
        </p:txBody>
      </p:sp>
      <p:sp>
        <p:nvSpPr>
          <p:cNvPr id="123" name="Google Shape;123;p22"/>
          <p:cNvSpPr txBox="1"/>
          <p:nvPr/>
        </p:nvSpPr>
        <p:spPr>
          <a:xfrm>
            <a:off x="173600" y="1309934"/>
            <a:ext cx="8740500" cy="4693562"/>
          </a:xfrm>
          <a:prstGeom prst="rect">
            <a:avLst/>
          </a:prstGeom>
          <a:noFill/>
          <a:ln>
            <a:noFill/>
          </a:ln>
        </p:spPr>
        <p:txBody>
          <a:bodyPr spcFirstLastPara="1" wrap="square" lIns="91425" tIns="91425" rIns="91425" bIns="91425" anchor="t" anchorCtr="0">
            <a:spAutoFit/>
          </a:bodyPr>
          <a:lstStyle/>
          <a:p>
            <a:pPr marL="457200" lvl="0" indent="-304800" rtl="0">
              <a:lnSpc>
                <a:spcPct val="115000"/>
              </a:lnSpc>
              <a:spcBef>
                <a:spcPts val="1200"/>
              </a:spcBef>
              <a:spcAft>
                <a:spcPts val="0"/>
              </a:spcAft>
              <a:buSzPts val="1200"/>
              <a:buChar char="❖"/>
            </a:pPr>
            <a:r>
              <a:rPr lang="en" sz="1200" b="1" dirty="0"/>
              <a:t>BC547 Transistor and Relay Switching</a:t>
            </a:r>
            <a:br>
              <a:rPr lang="en" sz="1200" b="1" dirty="0"/>
            </a:br>
            <a:r>
              <a:rPr lang="en" sz="1200" dirty="0"/>
              <a:t>The BC547 NPN transistor is used to drive the relay, which controls the high-power AC load (e.g., a bulb). When the CD4017 output goes HIGH, it biases the transistor, allowing current to flow through the relay coil. A diode (1N4007) protects the transistor from back EMF generated by the relay. </a:t>
            </a:r>
            <a:endParaRPr sz="1200" dirty="0"/>
          </a:p>
          <a:p>
            <a:pPr marL="457200" lvl="0" indent="-304800" rtl="0">
              <a:lnSpc>
                <a:spcPct val="115000"/>
              </a:lnSpc>
              <a:spcBef>
                <a:spcPts val="0"/>
              </a:spcBef>
              <a:spcAft>
                <a:spcPts val="0"/>
              </a:spcAft>
              <a:buSzPts val="1200"/>
              <a:buChar char="❖"/>
            </a:pPr>
            <a:r>
              <a:rPr lang="en" sz="1200" b="1" dirty="0"/>
              <a:t>Energy Efficiency and Practical Deployment</a:t>
            </a:r>
            <a:br>
              <a:rPr lang="en" sz="1200" b="1" dirty="0"/>
            </a:br>
            <a:r>
              <a:rPr lang="en" sz="1200" dirty="0"/>
              <a:t>Studies show that motion-activated lighting systems can reduce electricity consumption by up to 30% in residential and institutional settings. These systems are especially effective in areas with intermittent occupancy, such as staircases, corridors, and outdoor spaces.</a:t>
            </a:r>
            <a:endParaRPr sz="1200" dirty="0"/>
          </a:p>
          <a:p>
            <a:pPr marL="457200" lvl="0" indent="-304800" rtl="0">
              <a:lnSpc>
                <a:spcPct val="115000"/>
              </a:lnSpc>
              <a:spcBef>
                <a:spcPts val="0"/>
              </a:spcBef>
              <a:spcAft>
                <a:spcPts val="0"/>
              </a:spcAft>
              <a:buSzPts val="1200"/>
              <a:buChar char="❖"/>
            </a:pPr>
            <a:r>
              <a:rPr lang="en" sz="1200" b="1" dirty="0"/>
              <a:t>Advantages Over Microcontroller-Based Systems</a:t>
            </a:r>
            <a:br>
              <a:rPr lang="en" sz="1200" b="1" dirty="0"/>
            </a:br>
            <a:r>
              <a:rPr lang="en" sz="1200" dirty="0"/>
              <a:t>While microcontrollers offer flexibility, the use of discrete components like CD4017 and LM358 provides a robust, low-cost alternative. These systems are easier to build, require no programming, and are ideal for educational and DIY applications.</a:t>
            </a:r>
            <a:endParaRPr sz="1200" dirty="0"/>
          </a:p>
          <a:p>
            <a:pPr marL="457200" lvl="0" indent="-304800" rtl="0">
              <a:lnSpc>
                <a:spcPct val="115000"/>
              </a:lnSpc>
              <a:spcBef>
                <a:spcPts val="0"/>
              </a:spcBef>
              <a:spcAft>
                <a:spcPts val="0"/>
              </a:spcAft>
              <a:buSzPts val="1200"/>
              <a:buChar char="❖"/>
            </a:pPr>
            <a:r>
              <a:rPr lang="en" sz="1200" b="1" dirty="0"/>
              <a:t>Applications and Future Scope</a:t>
            </a:r>
            <a:br>
              <a:rPr lang="en" sz="1200" b="1" dirty="0"/>
            </a:br>
            <a:r>
              <a:rPr lang="en" sz="1200" dirty="0"/>
              <a:t>Beyond home automation, this circuit can be adapted for street lighting, washroom automation, and security lighting. Future enhancements may include integrating ambient light sensing (via LDR), adjustable delay timers, or wireless control modules.</a:t>
            </a:r>
            <a:endParaRPr sz="1200" dirty="0"/>
          </a:p>
          <a:p>
            <a:pPr marL="0" lvl="0" indent="0" algn="just" rtl="0">
              <a:lnSpc>
                <a:spcPct val="115000"/>
              </a:lnSpc>
              <a:spcBef>
                <a:spcPts val="1200"/>
              </a:spcBef>
              <a:spcAft>
                <a:spcPts val="0"/>
              </a:spcAft>
              <a:buNone/>
            </a:pPr>
            <a:endParaRPr sz="1500" b="1" dirty="0"/>
          </a:p>
          <a:p>
            <a:pPr marL="0" lvl="0" indent="0" algn="just" rtl="0">
              <a:lnSpc>
                <a:spcPct val="115000"/>
              </a:lnSpc>
              <a:spcBef>
                <a:spcPts val="1200"/>
              </a:spcBef>
              <a:spcAft>
                <a:spcPts val="1200"/>
              </a:spcAft>
              <a:buNone/>
            </a:pPr>
            <a:endParaRPr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127"/>
        <p:cNvGrpSpPr/>
        <p:nvPr/>
      </p:nvGrpSpPr>
      <p:grpSpPr>
        <a:xfrm>
          <a:off x="0" y="0"/>
          <a:ext cx="0" cy="0"/>
          <a:chOff x="0" y="0"/>
          <a:chExt cx="0" cy="0"/>
        </a:xfrm>
      </p:grpSpPr>
      <p:sp>
        <p:nvSpPr>
          <p:cNvPr id="128" name="Google Shape;128;p2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latin typeface="Arial"/>
                <a:ea typeface="Arial"/>
                <a:cs typeface="Arial"/>
                <a:sym typeface="Arial"/>
              </a:rPr>
              <a:t>FLOW CHART</a:t>
            </a:r>
            <a:endParaRPr>
              <a:latin typeface="Arial"/>
              <a:ea typeface="Arial"/>
              <a:cs typeface="Arial"/>
              <a:sym typeface="Arial"/>
            </a:endParaRPr>
          </a:p>
        </p:txBody>
      </p:sp>
      <p:sp>
        <p:nvSpPr>
          <p:cNvPr id="129" name="Google Shape;129;p23"/>
          <p:cNvSpPr txBox="1"/>
          <p:nvPr/>
        </p:nvSpPr>
        <p:spPr>
          <a:xfrm>
            <a:off x="475775" y="1343750"/>
            <a:ext cx="8152500" cy="4994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200"/>
              <a:t>1. </a:t>
            </a:r>
            <a:r>
              <a:rPr lang="en" sz="1200" b="1"/>
              <a:t>Power ON the Circuit</a:t>
            </a:r>
            <a:endParaRPr sz="1200" b="1"/>
          </a:p>
          <a:p>
            <a:pPr marL="457200" lvl="0" indent="-304800" algn="l" rtl="0">
              <a:lnSpc>
                <a:spcPct val="115000"/>
              </a:lnSpc>
              <a:spcBef>
                <a:spcPts val="1200"/>
              </a:spcBef>
              <a:spcAft>
                <a:spcPts val="0"/>
              </a:spcAft>
              <a:buSzPts val="1200"/>
              <a:buChar char="●"/>
            </a:pPr>
            <a:r>
              <a:rPr lang="en" sz="1200"/>
              <a:t>The system is powered using a regulated 5V or 12V supply.</a:t>
            </a:r>
            <a:endParaRPr sz="1200"/>
          </a:p>
          <a:p>
            <a:pPr marL="457200" lvl="0" indent="-304800" algn="l" rtl="0">
              <a:lnSpc>
                <a:spcPct val="115000"/>
              </a:lnSpc>
              <a:spcBef>
                <a:spcPts val="0"/>
              </a:spcBef>
              <a:spcAft>
                <a:spcPts val="0"/>
              </a:spcAft>
              <a:buSzPts val="1200"/>
              <a:buChar char="●"/>
            </a:pPr>
            <a:r>
              <a:rPr lang="en" sz="1200"/>
              <a:t>All components (IR sensor, LM358, CD4017, relay) are energized and ready to respond.</a:t>
            </a:r>
            <a:endParaRPr sz="1200"/>
          </a:p>
          <a:p>
            <a:pPr marL="0" lvl="0" indent="0" algn="l" rtl="0">
              <a:lnSpc>
                <a:spcPct val="115000"/>
              </a:lnSpc>
              <a:spcBef>
                <a:spcPts val="1200"/>
              </a:spcBef>
              <a:spcAft>
                <a:spcPts val="0"/>
              </a:spcAft>
              <a:buNone/>
            </a:pPr>
            <a:r>
              <a:rPr lang="en" sz="1200"/>
              <a:t>2. </a:t>
            </a:r>
            <a:r>
              <a:rPr lang="en" sz="1200" b="1"/>
              <a:t>IR Sensor Detects Motion</a:t>
            </a:r>
            <a:endParaRPr sz="1200" b="1"/>
          </a:p>
          <a:p>
            <a:pPr marL="457200" lvl="0" indent="-304800" algn="l" rtl="0">
              <a:lnSpc>
                <a:spcPct val="115000"/>
              </a:lnSpc>
              <a:spcBef>
                <a:spcPts val="1200"/>
              </a:spcBef>
              <a:spcAft>
                <a:spcPts val="0"/>
              </a:spcAft>
              <a:buSzPts val="1200"/>
              <a:buChar char="●"/>
            </a:pPr>
            <a:r>
              <a:rPr lang="en" sz="1200"/>
              <a:t>The IR LED pair (emitter and detector) is positioned to monitor a specific area.</a:t>
            </a:r>
            <a:endParaRPr sz="1200"/>
          </a:p>
          <a:p>
            <a:pPr marL="457200" lvl="0" indent="-304800" algn="l" rtl="0">
              <a:lnSpc>
                <a:spcPct val="115000"/>
              </a:lnSpc>
              <a:spcBef>
                <a:spcPts val="0"/>
              </a:spcBef>
              <a:spcAft>
                <a:spcPts val="0"/>
              </a:spcAft>
              <a:buSzPts val="1200"/>
              <a:buChar char="●"/>
            </a:pPr>
            <a:r>
              <a:rPr lang="en" sz="1200"/>
              <a:t>When a person or object interrupts the IR beam, the detector ’s output voltage changes.</a:t>
            </a:r>
            <a:endParaRPr sz="1200"/>
          </a:p>
          <a:p>
            <a:pPr marL="457200" lvl="0" indent="-304800" algn="l" rtl="0">
              <a:lnSpc>
                <a:spcPct val="115000"/>
              </a:lnSpc>
              <a:spcBef>
                <a:spcPts val="0"/>
              </a:spcBef>
              <a:spcAft>
                <a:spcPts val="0"/>
              </a:spcAft>
              <a:buSzPts val="1200"/>
              <a:buChar char="●"/>
            </a:pPr>
            <a:r>
              <a:rPr lang="en" sz="1200"/>
              <a:t>This analog signal is the first trigger for the system.</a:t>
            </a:r>
            <a:endParaRPr sz="1200"/>
          </a:p>
          <a:p>
            <a:pPr marL="0" lvl="0" indent="0" algn="l" rtl="0">
              <a:lnSpc>
                <a:spcPct val="115000"/>
              </a:lnSpc>
              <a:spcBef>
                <a:spcPts val="1200"/>
              </a:spcBef>
              <a:spcAft>
                <a:spcPts val="0"/>
              </a:spcAft>
              <a:buNone/>
            </a:pPr>
            <a:r>
              <a:rPr lang="en" sz="1200"/>
              <a:t>3. </a:t>
            </a:r>
            <a:r>
              <a:rPr lang="en" sz="1200" b="1"/>
              <a:t>LM358 Comparator Converts Signal</a:t>
            </a:r>
            <a:endParaRPr sz="1200" b="1"/>
          </a:p>
          <a:p>
            <a:pPr marL="457200" lvl="0" indent="-304800" algn="l" rtl="0">
              <a:lnSpc>
                <a:spcPct val="115000"/>
              </a:lnSpc>
              <a:spcBef>
                <a:spcPts val="1200"/>
              </a:spcBef>
              <a:spcAft>
                <a:spcPts val="0"/>
              </a:spcAft>
              <a:buSzPts val="1200"/>
              <a:buChar char="●"/>
            </a:pPr>
            <a:r>
              <a:rPr lang="en" sz="1200"/>
              <a:t>The analog voltage from the IR detector is fed into the LM358 op-amp configured as a </a:t>
            </a:r>
            <a:r>
              <a:rPr lang="en" sz="1200" b="1"/>
              <a:t>comparator</a:t>
            </a:r>
            <a:r>
              <a:rPr lang="en" sz="1200"/>
              <a:t>.</a:t>
            </a:r>
            <a:endParaRPr sz="1200"/>
          </a:p>
          <a:p>
            <a:pPr marL="457200" lvl="0" indent="-304800" algn="l" rtl="0">
              <a:lnSpc>
                <a:spcPct val="115000"/>
              </a:lnSpc>
              <a:spcBef>
                <a:spcPts val="0"/>
              </a:spcBef>
              <a:spcAft>
                <a:spcPts val="0"/>
              </a:spcAft>
              <a:buSzPts val="1200"/>
              <a:buChar char="●"/>
            </a:pPr>
            <a:r>
              <a:rPr lang="en" sz="1200"/>
              <a:t>The comparator compares this voltage with a reference (set using a 10k trimmer).</a:t>
            </a:r>
            <a:endParaRPr sz="1200"/>
          </a:p>
          <a:p>
            <a:pPr marL="457200" lvl="0" indent="-304800" algn="l" rtl="0">
              <a:lnSpc>
                <a:spcPct val="115000"/>
              </a:lnSpc>
              <a:spcBef>
                <a:spcPts val="0"/>
              </a:spcBef>
              <a:spcAft>
                <a:spcPts val="0"/>
              </a:spcAft>
              <a:buSzPts val="1200"/>
              <a:buChar char="●"/>
            </a:pPr>
            <a:r>
              <a:rPr lang="en" sz="1200"/>
              <a:t>If the IR signal exceeds the threshold, LM358 outputs a </a:t>
            </a:r>
            <a:r>
              <a:rPr lang="en" sz="1200" b="1"/>
              <a:t>digital HIGH</a:t>
            </a:r>
            <a:r>
              <a:rPr lang="en" sz="1200"/>
              <a:t> (logic 1).</a:t>
            </a:r>
            <a:endParaRPr sz="1200"/>
          </a:p>
          <a:p>
            <a:pPr marL="457200" lvl="0" indent="-304800" algn="l" rtl="0">
              <a:lnSpc>
                <a:spcPct val="115000"/>
              </a:lnSpc>
              <a:spcBef>
                <a:spcPts val="0"/>
              </a:spcBef>
              <a:spcAft>
                <a:spcPts val="0"/>
              </a:spcAft>
              <a:buSzPts val="1200"/>
              <a:buChar char="●"/>
            </a:pPr>
            <a:r>
              <a:rPr lang="en" sz="1200"/>
              <a:t>This HIGH signal acts as a </a:t>
            </a:r>
            <a:r>
              <a:rPr lang="en" sz="1200" b="1"/>
              <a:t>clock pulse</a:t>
            </a:r>
            <a:r>
              <a:rPr lang="en" sz="1200"/>
              <a:t> for the CD4017.</a:t>
            </a:r>
            <a:endParaRPr sz="1200"/>
          </a:p>
          <a:p>
            <a:pPr marL="457200" lvl="0" indent="0" algn="l" rtl="0">
              <a:lnSpc>
                <a:spcPct val="115000"/>
              </a:lnSpc>
              <a:spcBef>
                <a:spcPts val="1200"/>
              </a:spcBef>
              <a:spcAft>
                <a:spcPts val="0"/>
              </a:spcAft>
              <a:buNone/>
            </a:pPr>
            <a:endParaRPr b="1"/>
          </a:p>
          <a:p>
            <a:pPr marL="457200" lvl="0" indent="0" algn="l" rtl="0">
              <a:lnSpc>
                <a:spcPct val="115000"/>
              </a:lnSpc>
              <a:spcBef>
                <a:spcPts val="1200"/>
              </a:spcBef>
              <a:spcAft>
                <a:spcPts val="0"/>
              </a:spcAft>
              <a:buNone/>
            </a:pPr>
            <a:endParaRPr sz="1200" b="1"/>
          </a:p>
          <a:p>
            <a:pPr marL="457200" lvl="0" indent="0" algn="l" rtl="0">
              <a:lnSpc>
                <a:spcPct val="115000"/>
              </a:lnSpc>
              <a:spcBef>
                <a:spcPts val="1200"/>
              </a:spcBef>
              <a:spcAft>
                <a:spcPts val="0"/>
              </a:spcAft>
              <a:buNone/>
            </a:pPr>
            <a:endParaRPr sz="1300" b="1"/>
          </a:p>
          <a:p>
            <a:pPr marL="457200" lvl="0" indent="0" algn="l" rtl="0">
              <a:lnSpc>
                <a:spcPct val="115000"/>
              </a:lnSpc>
              <a:spcBef>
                <a:spcPts val="1200"/>
              </a:spcBef>
              <a:spcAft>
                <a:spcPts val="1200"/>
              </a:spcAft>
              <a:buNone/>
            </a:pP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133"/>
        <p:cNvGrpSpPr/>
        <p:nvPr/>
      </p:nvGrpSpPr>
      <p:grpSpPr>
        <a:xfrm>
          <a:off x="0" y="0"/>
          <a:ext cx="0" cy="0"/>
          <a:chOff x="0" y="0"/>
          <a:chExt cx="0" cy="0"/>
        </a:xfrm>
      </p:grpSpPr>
      <p:sp>
        <p:nvSpPr>
          <p:cNvPr id="134" name="Google Shape;134;p2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latin typeface="Arial"/>
                <a:ea typeface="Arial"/>
                <a:cs typeface="Arial"/>
                <a:sym typeface="Arial"/>
              </a:rPr>
              <a:t>FLOW CHART</a:t>
            </a:r>
            <a:endParaRPr>
              <a:latin typeface="Arial"/>
              <a:ea typeface="Arial"/>
              <a:cs typeface="Arial"/>
              <a:sym typeface="Arial"/>
            </a:endParaRPr>
          </a:p>
        </p:txBody>
      </p:sp>
      <p:sp>
        <p:nvSpPr>
          <p:cNvPr id="135" name="Google Shape;135;p24"/>
          <p:cNvSpPr txBox="1"/>
          <p:nvPr/>
        </p:nvSpPr>
        <p:spPr>
          <a:xfrm>
            <a:off x="451500" y="1433750"/>
            <a:ext cx="8692500" cy="3675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200"/>
              <a:t>4. </a:t>
            </a:r>
            <a:r>
              <a:rPr lang="en" sz="1200" b="1"/>
              <a:t>CD4017 Decade Counter Responds</a:t>
            </a:r>
            <a:endParaRPr sz="1200" b="1"/>
          </a:p>
          <a:p>
            <a:pPr marL="457200" lvl="0" indent="-304800" algn="l" rtl="0">
              <a:lnSpc>
                <a:spcPct val="115000"/>
              </a:lnSpc>
              <a:spcBef>
                <a:spcPts val="1200"/>
              </a:spcBef>
              <a:spcAft>
                <a:spcPts val="0"/>
              </a:spcAft>
              <a:buSzPts val="1200"/>
              <a:buChar char="●"/>
            </a:pPr>
            <a:r>
              <a:rPr lang="en" sz="1200"/>
              <a:t>CD4017 receives the clock pulse and shifts its output from one pin to the next.</a:t>
            </a:r>
            <a:endParaRPr sz="1200"/>
          </a:p>
          <a:p>
            <a:pPr marL="457200" lvl="0" indent="-304800" algn="l" rtl="0">
              <a:lnSpc>
                <a:spcPct val="115000"/>
              </a:lnSpc>
              <a:spcBef>
                <a:spcPts val="0"/>
              </a:spcBef>
              <a:spcAft>
                <a:spcPts val="0"/>
              </a:spcAft>
              <a:buSzPts val="1200"/>
              <a:buChar char="●"/>
            </a:pPr>
            <a:r>
              <a:rPr lang="en" sz="1200"/>
              <a:t>You can configure it so that only one specific output pin activates the light.</a:t>
            </a:r>
            <a:endParaRPr sz="1200"/>
          </a:p>
          <a:p>
            <a:pPr marL="457200" lvl="0" indent="-304800" algn="l" rtl="0">
              <a:lnSpc>
                <a:spcPct val="115000"/>
              </a:lnSpc>
              <a:spcBef>
                <a:spcPts val="0"/>
              </a:spcBef>
              <a:spcAft>
                <a:spcPts val="0"/>
              </a:spcAft>
              <a:buSzPts val="1200"/>
              <a:buChar char="●"/>
            </a:pPr>
            <a:r>
              <a:rPr lang="en" sz="1200"/>
              <a:t>This output pin goes HIGH and stays HIGH until the next clock pulse (or reset).</a:t>
            </a:r>
            <a:endParaRPr sz="1200"/>
          </a:p>
          <a:p>
            <a:pPr marL="0" lvl="0" indent="0" algn="l" rtl="0">
              <a:lnSpc>
                <a:spcPct val="115000"/>
              </a:lnSpc>
              <a:spcBef>
                <a:spcPts val="1200"/>
              </a:spcBef>
              <a:spcAft>
                <a:spcPts val="0"/>
              </a:spcAft>
              <a:buNone/>
            </a:pPr>
            <a:r>
              <a:rPr lang="en" sz="1200"/>
              <a:t>5. </a:t>
            </a:r>
            <a:r>
              <a:rPr lang="en" sz="1200" b="1"/>
              <a:t>BC547 Transistor Activates Relay</a:t>
            </a:r>
            <a:endParaRPr sz="1200" b="1"/>
          </a:p>
          <a:p>
            <a:pPr marL="457200" lvl="0" indent="-304800" algn="l" rtl="0">
              <a:lnSpc>
                <a:spcPct val="115000"/>
              </a:lnSpc>
              <a:spcBef>
                <a:spcPts val="1200"/>
              </a:spcBef>
              <a:spcAft>
                <a:spcPts val="0"/>
              </a:spcAft>
              <a:buSzPts val="1200"/>
              <a:buChar char="●"/>
            </a:pPr>
            <a:r>
              <a:rPr lang="en" sz="1200"/>
              <a:t>The HIGH output from CD4017 is fed to the base of the BC547 transistor via a 220Ω resistor.</a:t>
            </a:r>
            <a:endParaRPr sz="1200"/>
          </a:p>
          <a:p>
            <a:pPr marL="457200" lvl="0" indent="-304800" algn="l" rtl="0">
              <a:lnSpc>
                <a:spcPct val="115000"/>
              </a:lnSpc>
              <a:spcBef>
                <a:spcPts val="0"/>
              </a:spcBef>
              <a:spcAft>
                <a:spcPts val="0"/>
              </a:spcAft>
              <a:buSzPts val="1200"/>
              <a:buChar char="●"/>
            </a:pPr>
            <a:r>
              <a:rPr lang="en" sz="1200"/>
              <a:t>This biases the transistor into conduction mode.</a:t>
            </a:r>
            <a:endParaRPr sz="1200"/>
          </a:p>
          <a:p>
            <a:pPr marL="457200" lvl="0" indent="-304800" algn="l" rtl="0">
              <a:lnSpc>
                <a:spcPct val="115000"/>
              </a:lnSpc>
              <a:spcBef>
                <a:spcPts val="0"/>
              </a:spcBef>
              <a:spcAft>
                <a:spcPts val="0"/>
              </a:spcAft>
              <a:buSzPts val="1200"/>
              <a:buChar char="●"/>
            </a:pPr>
            <a:r>
              <a:rPr lang="en" sz="1200"/>
              <a:t>Current flows through the relay coil, activating it.</a:t>
            </a:r>
            <a:endParaRPr sz="1200"/>
          </a:p>
          <a:p>
            <a:pPr marL="0" lvl="0" indent="0" algn="l" rtl="0">
              <a:lnSpc>
                <a:spcPct val="115000"/>
              </a:lnSpc>
              <a:spcBef>
                <a:spcPts val="1200"/>
              </a:spcBef>
              <a:spcAft>
                <a:spcPts val="0"/>
              </a:spcAft>
              <a:buNone/>
            </a:pPr>
            <a:r>
              <a:rPr lang="en" sz="1200"/>
              <a:t>6. </a:t>
            </a:r>
            <a:r>
              <a:rPr lang="en" sz="1200" b="1"/>
              <a:t>Relay Switches ON the Light</a:t>
            </a:r>
            <a:endParaRPr sz="1200" b="1"/>
          </a:p>
          <a:p>
            <a:pPr marL="457200" lvl="0" indent="-304800" algn="l" rtl="0">
              <a:lnSpc>
                <a:spcPct val="115000"/>
              </a:lnSpc>
              <a:spcBef>
                <a:spcPts val="1200"/>
              </a:spcBef>
              <a:spcAft>
                <a:spcPts val="0"/>
              </a:spcAft>
              <a:buSzPts val="1200"/>
              <a:buChar char="●"/>
            </a:pPr>
            <a:r>
              <a:rPr lang="en" sz="1200"/>
              <a:t>The relay connects the AC bulb or LED to the power source.</a:t>
            </a:r>
            <a:endParaRPr sz="1200"/>
          </a:p>
          <a:p>
            <a:pPr marL="457200" lvl="0" indent="-304800" algn="l" rtl="0">
              <a:lnSpc>
                <a:spcPct val="115000"/>
              </a:lnSpc>
              <a:spcBef>
                <a:spcPts val="0"/>
              </a:spcBef>
              <a:spcAft>
                <a:spcPts val="0"/>
              </a:spcAft>
              <a:buSzPts val="1200"/>
              <a:buChar char="●"/>
            </a:pPr>
            <a:r>
              <a:rPr lang="en" sz="1200"/>
              <a:t>The light turns ON automatically when motion is detected.</a:t>
            </a:r>
            <a:endParaRPr sz="1200"/>
          </a:p>
          <a:p>
            <a:pPr marL="457200" lvl="0" indent="0" algn="l" rtl="0">
              <a:lnSpc>
                <a:spcPct val="115000"/>
              </a:lnSpc>
              <a:spcBef>
                <a:spcPts val="1200"/>
              </a:spcBef>
              <a:spcAft>
                <a:spcPts val="1200"/>
              </a:spcAft>
              <a:buNone/>
            </a:pP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139"/>
        <p:cNvGrpSpPr/>
        <p:nvPr/>
      </p:nvGrpSpPr>
      <p:grpSpPr>
        <a:xfrm>
          <a:off x="0" y="0"/>
          <a:ext cx="0" cy="0"/>
          <a:chOff x="0" y="0"/>
          <a:chExt cx="0" cy="0"/>
        </a:xfrm>
      </p:grpSpPr>
      <p:sp>
        <p:nvSpPr>
          <p:cNvPr id="140" name="Google Shape;140;p2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latin typeface="Arial"/>
                <a:ea typeface="Arial"/>
                <a:cs typeface="Arial"/>
                <a:sym typeface="Arial"/>
              </a:rPr>
              <a:t>FLOW CHART</a:t>
            </a:r>
            <a:endParaRPr>
              <a:latin typeface="Arial"/>
              <a:ea typeface="Arial"/>
              <a:cs typeface="Arial"/>
              <a:sym typeface="Arial"/>
            </a:endParaRPr>
          </a:p>
        </p:txBody>
      </p:sp>
      <p:sp>
        <p:nvSpPr>
          <p:cNvPr id="141" name="Google Shape;141;p25"/>
          <p:cNvSpPr txBox="1"/>
          <p:nvPr/>
        </p:nvSpPr>
        <p:spPr>
          <a:xfrm>
            <a:off x="392200" y="1562350"/>
            <a:ext cx="8473800" cy="2659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a:t>7. </a:t>
            </a:r>
            <a:r>
              <a:rPr lang="en" sz="1300" b="1"/>
              <a:t>Optional Delay or Reset</a:t>
            </a:r>
            <a:endParaRPr sz="1300" b="1"/>
          </a:p>
          <a:p>
            <a:pPr marL="457200" lvl="0" indent="-311150" algn="l" rtl="0">
              <a:lnSpc>
                <a:spcPct val="115000"/>
              </a:lnSpc>
              <a:spcBef>
                <a:spcPts val="1200"/>
              </a:spcBef>
              <a:spcAft>
                <a:spcPts val="0"/>
              </a:spcAft>
              <a:buSzPts val="1300"/>
              <a:buChar char="●"/>
            </a:pPr>
            <a:r>
              <a:rPr lang="en" sz="1300"/>
              <a:t>You can add a capacitor (e.g., 100µF or 1000µF) to introduce a delay before the light turns OFF.</a:t>
            </a:r>
            <a:endParaRPr sz="1300"/>
          </a:p>
          <a:p>
            <a:pPr marL="457200" lvl="0" indent="-311150" algn="l" rtl="0">
              <a:lnSpc>
                <a:spcPct val="115000"/>
              </a:lnSpc>
              <a:spcBef>
                <a:spcPts val="0"/>
              </a:spcBef>
              <a:spcAft>
                <a:spcPts val="0"/>
              </a:spcAft>
              <a:buSzPts val="1300"/>
              <a:buChar char="●"/>
            </a:pPr>
            <a:r>
              <a:rPr lang="en" sz="1300"/>
              <a:t>Alternatively, you can use another CD4017 output pin or a manual reset to turn OFF the light after a set time.</a:t>
            </a:r>
            <a:endParaRPr sz="1300"/>
          </a:p>
          <a:p>
            <a:pPr marL="0" lvl="0" indent="0" algn="l" rtl="0">
              <a:lnSpc>
                <a:spcPct val="115000"/>
              </a:lnSpc>
              <a:spcBef>
                <a:spcPts val="1200"/>
              </a:spcBef>
              <a:spcAft>
                <a:spcPts val="0"/>
              </a:spcAft>
              <a:buNone/>
            </a:pPr>
            <a:r>
              <a:rPr lang="en" sz="1300"/>
              <a:t>8. </a:t>
            </a:r>
            <a:r>
              <a:rPr lang="en" sz="1300" b="1"/>
              <a:t>System Waits for Next Motion</a:t>
            </a:r>
            <a:endParaRPr sz="1300" b="1"/>
          </a:p>
          <a:p>
            <a:pPr marL="457200" lvl="0" indent="-311150" algn="l" rtl="0">
              <a:lnSpc>
                <a:spcPct val="115000"/>
              </a:lnSpc>
              <a:spcBef>
                <a:spcPts val="1200"/>
              </a:spcBef>
              <a:spcAft>
                <a:spcPts val="0"/>
              </a:spcAft>
              <a:buSzPts val="1300"/>
              <a:buChar char="●"/>
            </a:pPr>
            <a:r>
              <a:rPr lang="en" sz="1300"/>
              <a:t>Once the light turns OFF, the system resets or waits for the next IR trigger.</a:t>
            </a:r>
            <a:endParaRPr sz="1300"/>
          </a:p>
          <a:p>
            <a:pPr marL="457200" lvl="0" indent="-298450" algn="l" rtl="0">
              <a:lnSpc>
                <a:spcPct val="115000"/>
              </a:lnSpc>
              <a:spcBef>
                <a:spcPts val="0"/>
              </a:spcBef>
              <a:spcAft>
                <a:spcPts val="0"/>
              </a:spcAft>
              <a:buSzPts val="1100"/>
              <a:buChar char="●"/>
            </a:pPr>
            <a:r>
              <a:rPr lang="en" sz="1300"/>
              <a:t>The cycle repeats every time motion is detected</a:t>
            </a:r>
            <a:r>
              <a:rPr lang="en"/>
              <a:t>.</a:t>
            </a:r>
            <a:endParaRPr/>
          </a:p>
          <a:p>
            <a:pPr marL="457200" lvl="0" indent="0" algn="l" rtl="0">
              <a:lnSpc>
                <a:spcPct val="115000"/>
              </a:lnSpc>
              <a:spcBef>
                <a:spcPts val="1200"/>
              </a:spcBef>
              <a:spcAft>
                <a:spcPts val="1200"/>
              </a:spcAft>
              <a:buNone/>
            </a:pP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145"/>
        <p:cNvGrpSpPr/>
        <p:nvPr/>
      </p:nvGrpSpPr>
      <p:grpSpPr>
        <a:xfrm>
          <a:off x="0" y="0"/>
          <a:ext cx="0" cy="0"/>
          <a:chOff x="0" y="0"/>
          <a:chExt cx="0" cy="0"/>
        </a:xfrm>
      </p:grpSpPr>
      <p:sp>
        <p:nvSpPr>
          <p:cNvPr id="146" name="Google Shape;146;p2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latin typeface="Arial"/>
                <a:ea typeface="Arial"/>
                <a:cs typeface="Arial"/>
                <a:sym typeface="Arial"/>
              </a:rPr>
              <a:t>FLOW CHART</a:t>
            </a:r>
            <a:endParaRPr>
              <a:latin typeface="Arial"/>
              <a:ea typeface="Arial"/>
              <a:cs typeface="Arial"/>
              <a:sym typeface="Arial"/>
            </a:endParaRPr>
          </a:p>
        </p:txBody>
      </p:sp>
      <p:pic>
        <p:nvPicPr>
          <p:cNvPr id="147" name="Google Shape;147;p26"/>
          <p:cNvPicPr preferRelativeResize="0"/>
          <p:nvPr/>
        </p:nvPicPr>
        <p:blipFill>
          <a:blip r:embed="rId3">
            <a:alphaModFix/>
          </a:blip>
          <a:stretch>
            <a:fillRect/>
          </a:stretch>
        </p:blipFill>
        <p:spPr>
          <a:xfrm>
            <a:off x="2591050" y="1328425"/>
            <a:ext cx="4121226" cy="37140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151"/>
        <p:cNvGrpSpPr/>
        <p:nvPr/>
      </p:nvGrpSpPr>
      <p:grpSpPr>
        <a:xfrm>
          <a:off x="0" y="0"/>
          <a:ext cx="0" cy="0"/>
          <a:chOff x="0" y="0"/>
          <a:chExt cx="0" cy="0"/>
        </a:xfrm>
      </p:grpSpPr>
      <p:sp>
        <p:nvSpPr>
          <p:cNvPr id="152" name="Google Shape;152;p2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latin typeface="Arial"/>
                <a:ea typeface="Arial"/>
                <a:cs typeface="Arial"/>
                <a:sym typeface="Arial"/>
              </a:rPr>
              <a:t>BLOCK DIAGRAM</a:t>
            </a:r>
            <a:endParaRPr>
              <a:latin typeface="Arial"/>
              <a:ea typeface="Arial"/>
              <a:cs typeface="Arial"/>
              <a:sym typeface="Arial"/>
            </a:endParaRPr>
          </a:p>
        </p:txBody>
      </p:sp>
      <p:sp>
        <p:nvSpPr>
          <p:cNvPr id="153" name="Google Shape;153;p27"/>
          <p:cNvSpPr txBox="1"/>
          <p:nvPr/>
        </p:nvSpPr>
        <p:spPr>
          <a:xfrm rot="-507" flipH="1">
            <a:off x="861525" y="1292325"/>
            <a:ext cx="6101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pic>
        <p:nvPicPr>
          <p:cNvPr id="154" name="Google Shape;154;p27"/>
          <p:cNvPicPr preferRelativeResize="0"/>
          <p:nvPr/>
        </p:nvPicPr>
        <p:blipFill>
          <a:blip r:embed="rId3">
            <a:alphaModFix/>
          </a:blip>
          <a:stretch>
            <a:fillRect/>
          </a:stretch>
        </p:blipFill>
        <p:spPr>
          <a:xfrm>
            <a:off x="2153850" y="1440175"/>
            <a:ext cx="4918476" cy="36004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158"/>
        <p:cNvGrpSpPr/>
        <p:nvPr/>
      </p:nvGrpSpPr>
      <p:grpSpPr>
        <a:xfrm>
          <a:off x="0" y="0"/>
          <a:ext cx="0" cy="0"/>
          <a:chOff x="0" y="0"/>
          <a:chExt cx="0" cy="0"/>
        </a:xfrm>
      </p:grpSpPr>
      <p:sp>
        <p:nvSpPr>
          <p:cNvPr id="159" name="Google Shape;159;p2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latin typeface="Arial"/>
                <a:ea typeface="Arial"/>
                <a:cs typeface="Arial"/>
                <a:sym typeface="Arial"/>
              </a:rPr>
              <a:t>CIRCUIT DIAGRAM</a:t>
            </a:r>
            <a:endParaRPr>
              <a:latin typeface="Arial"/>
              <a:ea typeface="Arial"/>
              <a:cs typeface="Arial"/>
              <a:sym typeface="Arial"/>
            </a:endParaRPr>
          </a:p>
        </p:txBody>
      </p:sp>
      <p:pic>
        <p:nvPicPr>
          <p:cNvPr id="160" name="Google Shape;160;p28"/>
          <p:cNvPicPr preferRelativeResize="0"/>
          <p:nvPr/>
        </p:nvPicPr>
        <p:blipFill>
          <a:blip r:embed="rId3">
            <a:alphaModFix/>
          </a:blip>
          <a:stretch>
            <a:fillRect/>
          </a:stretch>
        </p:blipFill>
        <p:spPr>
          <a:xfrm>
            <a:off x="246513" y="1322025"/>
            <a:ext cx="8651024" cy="37140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164"/>
        <p:cNvGrpSpPr/>
        <p:nvPr/>
      </p:nvGrpSpPr>
      <p:grpSpPr>
        <a:xfrm>
          <a:off x="0" y="0"/>
          <a:ext cx="0" cy="0"/>
          <a:chOff x="0" y="0"/>
          <a:chExt cx="0" cy="0"/>
        </a:xfrm>
      </p:grpSpPr>
      <p:sp>
        <p:nvSpPr>
          <p:cNvPr id="165" name="Google Shape;165;p2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latin typeface="Arial"/>
                <a:ea typeface="Arial"/>
                <a:cs typeface="Arial"/>
                <a:sym typeface="Arial"/>
              </a:rPr>
              <a:t>APPLICATIONS</a:t>
            </a:r>
            <a:endParaRPr>
              <a:latin typeface="Arial"/>
              <a:ea typeface="Arial"/>
              <a:cs typeface="Arial"/>
              <a:sym typeface="Arial"/>
            </a:endParaRPr>
          </a:p>
        </p:txBody>
      </p:sp>
      <p:sp>
        <p:nvSpPr>
          <p:cNvPr id="166" name="Google Shape;166;p29"/>
          <p:cNvSpPr txBox="1"/>
          <p:nvPr/>
        </p:nvSpPr>
        <p:spPr>
          <a:xfrm>
            <a:off x="360050" y="1375875"/>
            <a:ext cx="8364600" cy="3762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200"/>
              <a:t>🏠 </a:t>
            </a:r>
            <a:r>
              <a:rPr lang="en" sz="1200" b="1"/>
              <a:t>Residential Use</a:t>
            </a:r>
            <a:endParaRPr sz="1200" b="1"/>
          </a:p>
          <a:p>
            <a:pPr marL="457200" lvl="0" indent="-304800" algn="l" rtl="0">
              <a:lnSpc>
                <a:spcPct val="115000"/>
              </a:lnSpc>
              <a:spcBef>
                <a:spcPts val="1200"/>
              </a:spcBef>
              <a:spcAft>
                <a:spcPts val="0"/>
              </a:spcAft>
              <a:buSzPts val="1200"/>
              <a:buChar char="●"/>
            </a:pPr>
            <a:r>
              <a:rPr lang="en" sz="1200" b="1"/>
              <a:t>Bedroom or Living Room Lighting</a:t>
            </a:r>
            <a:br>
              <a:rPr lang="en" sz="1200" b="1"/>
            </a:br>
            <a:r>
              <a:rPr lang="en" sz="1200"/>
              <a:t> Automatically turns lights ON when ambient light drops below a set level (e.g., at dusk), and OFF when natural light returns.</a:t>
            </a:r>
            <a:endParaRPr sz="1200"/>
          </a:p>
          <a:p>
            <a:pPr marL="457200" lvl="0" indent="-304800" algn="l" rtl="0">
              <a:lnSpc>
                <a:spcPct val="115000"/>
              </a:lnSpc>
              <a:spcBef>
                <a:spcPts val="0"/>
              </a:spcBef>
              <a:spcAft>
                <a:spcPts val="0"/>
              </a:spcAft>
              <a:buSzPts val="1200"/>
              <a:buChar char="●"/>
            </a:pPr>
            <a:r>
              <a:rPr lang="en" sz="1200" b="1"/>
              <a:t>Hallways and Staircases</a:t>
            </a:r>
            <a:br>
              <a:rPr lang="en" sz="1200" b="1"/>
            </a:br>
            <a:r>
              <a:rPr lang="en" sz="1200"/>
              <a:t> Ensures safe navigation by activating lights in low-light conditions without manual switching.</a:t>
            </a:r>
            <a:endParaRPr sz="1200"/>
          </a:p>
          <a:p>
            <a:pPr marL="457200" lvl="0" indent="-304800" algn="l" rtl="0">
              <a:lnSpc>
                <a:spcPct val="115000"/>
              </a:lnSpc>
              <a:spcBef>
                <a:spcPts val="0"/>
              </a:spcBef>
              <a:spcAft>
                <a:spcPts val="0"/>
              </a:spcAft>
              <a:buSzPts val="1200"/>
              <a:buChar char="●"/>
            </a:pPr>
            <a:r>
              <a:rPr lang="en" sz="1200" b="1"/>
              <a:t>Bathroom Lighting</a:t>
            </a:r>
            <a:br>
              <a:rPr lang="en" sz="1200" b="1"/>
            </a:br>
            <a:r>
              <a:rPr lang="en" sz="1200"/>
              <a:t> Useful for night-time use—lights activate based on darkness, reducing the need to fumble for switches.</a:t>
            </a:r>
            <a:endParaRPr sz="1200"/>
          </a:p>
          <a:p>
            <a:pPr marL="0" lvl="0" indent="0" algn="l" rtl="0">
              <a:lnSpc>
                <a:spcPct val="115000"/>
              </a:lnSpc>
              <a:spcBef>
                <a:spcPts val="1200"/>
              </a:spcBef>
              <a:spcAft>
                <a:spcPts val="0"/>
              </a:spcAft>
              <a:buNone/>
            </a:pPr>
            <a:r>
              <a:rPr lang="en" sz="1200"/>
              <a:t>🧠 </a:t>
            </a:r>
            <a:r>
              <a:rPr lang="en" sz="1200" b="1"/>
              <a:t>Assistive Technology</a:t>
            </a:r>
            <a:endParaRPr sz="1200" b="1"/>
          </a:p>
          <a:p>
            <a:pPr marL="457200" lvl="0" indent="-304800" algn="l" rtl="0">
              <a:lnSpc>
                <a:spcPct val="115000"/>
              </a:lnSpc>
              <a:spcBef>
                <a:spcPts val="1200"/>
              </a:spcBef>
              <a:spcAft>
                <a:spcPts val="0"/>
              </a:spcAft>
              <a:buSzPts val="1200"/>
              <a:buChar char="●"/>
            </a:pPr>
            <a:r>
              <a:rPr lang="en" sz="1200" b="1"/>
              <a:t>Elderly or Mobility-Impaired Users</a:t>
            </a:r>
            <a:br>
              <a:rPr lang="en" sz="1200" b="1"/>
            </a:br>
            <a:r>
              <a:rPr lang="en" sz="1200"/>
              <a:t> Reduces dependence on manual switches, enhancing accessibility and safety.</a:t>
            </a:r>
            <a:endParaRPr sz="1200"/>
          </a:p>
          <a:p>
            <a:pPr marL="457200" lvl="0" indent="-304800" algn="l" rtl="0">
              <a:lnSpc>
                <a:spcPct val="115000"/>
              </a:lnSpc>
              <a:spcBef>
                <a:spcPts val="0"/>
              </a:spcBef>
              <a:spcAft>
                <a:spcPts val="0"/>
              </a:spcAft>
              <a:buSzPts val="1200"/>
              <a:buChar char="●"/>
            </a:pPr>
            <a:r>
              <a:rPr lang="en" sz="1200" b="1"/>
              <a:t>Child-Friendly Rooms</a:t>
            </a:r>
            <a:br>
              <a:rPr lang="en" sz="1200" b="1"/>
            </a:br>
            <a:r>
              <a:rPr lang="en" sz="1200"/>
              <a:t> Automatically lights up when it gets dark, offering comfort and convenience.</a:t>
            </a:r>
            <a:endParaRPr sz="1200"/>
          </a:p>
          <a:p>
            <a:pPr marL="457200" lvl="0" indent="0" algn="l" rtl="0">
              <a:lnSpc>
                <a:spcPct val="115000"/>
              </a:lnSpc>
              <a:spcBef>
                <a:spcPts val="1200"/>
              </a:spcBef>
              <a:spcAft>
                <a:spcPts val="1200"/>
              </a:spcAft>
              <a:buNone/>
            </a:pPr>
            <a:endParaRPr sz="13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170"/>
        <p:cNvGrpSpPr/>
        <p:nvPr/>
      </p:nvGrpSpPr>
      <p:grpSpPr>
        <a:xfrm>
          <a:off x="0" y="0"/>
          <a:ext cx="0" cy="0"/>
          <a:chOff x="0" y="0"/>
          <a:chExt cx="0" cy="0"/>
        </a:xfrm>
      </p:grpSpPr>
      <p:sp>
        <p:nvSpPr>
          <p:cNvPr id="171" name="Google Shape;171;p30"/>
          <p:cNvSpPr txBox="1"/>
          <p:nvPr/>
        </p:nvSpPr>
        <p:spPr>
          <a:xfrm>
            <a:off x="648929" y="1179871"/>
            <a:ext cx="7702896" cy="442425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200" dirty="0"/>
              <a:t>🌱 </a:t>
            </a:r>
            <a:r>
              <a:rPr lang="en" sz="1200" b="1" dirty="0"/>
              <a:t>Energy Efficiency</a:t>
            </a:r>
            <a:endParaRPr sz="1200" b="1" dirty="0"/>
          </a:p>
          <a:p>
            <a:pPr marL="457200" lvl="0" indent="-304800" algn="l" rtl="0">
              <a:lnSpc>
                <a:spcPct val="115000"/>
              </a:lnSpc>
              <a:spcBef>
                <a:spcPts val="1200"/>
              </a:spcBef>
              <a:spcAft>
                <a:spcPts val="0"/>
              </a:spcAft>
              <a:buSzPts val="1200"/>
              <a:buChar char="●"/>
            </a:pPr>
            <a:r>
              <a:rPr lang="en" sz="1200" b="1" dirty="0"/>
              <a:t>Smart Energy Saving</a:t>
            </a:r>
            <a:br>
              <a:rPr lang="en" sz="1200" b="1" dirty="0"/>
            </a:br>
            <a:r>
              <a:rPr lang="en" sz="1200" dirty="0"/>
              <a:t> Prevents lights from staying ON unnecessarily during daylight, reducing electricity bills.</a:t>
            </a:r>
            <a:endParaRPr sz="1200" dirty="0"/>
          </a:p>
          <a:p>
            <a:pPr marL="457200" lvl="0" indent="-304800" algn="l" rtl="0">
              <a:lnSpc>
                <a:spcPct val="115000"/>
              </a:lnSpc>
              <a:spcBef>
                <a:spcPts val="0"/>
              </a:spcBef>
              <a:spcAft>
                <a:spcPts val="0"/>
              </a:spcAft>
              <a:buSzPts val="1200"/>
              <a:buChar char="●"/>
            </a:pPr>
            <a:r>
              <a:rPr lang="en" sz="1200" b="1" dirty="0"/>
              <a:t>Eco-Friendly Homes</a:t>
            </a:r>
            <a:br>
              <a:rPr lang="en" sz="1200" b="1" dirty="0"/>
            </a:br>
            <a:r>
              <a:rPr lang="en" sz="1200" dirty="0"/>
              <a:t> Integrates well with solar-powered systems or low-power LED lighting setups.</a:t>
            </a:r>
            <a:endParaRPr sz="1200" dirty="0"/>
          </a:p>
          <a:p>
            <a:pPr marL="0" lvl="0" indent="0" algn="l" rtl="0">
              <a:lnSpc>
                <a:spcPct val="115000"/>
              </a:lnSpc>
              <a:spcBef>
                <a:spcPts val="1200"/>
              </a:spcBef>
              <a:spcAft>
                <a:spcPts val="0"/>
              </a:spcAft>
              <a:buNone/>
            </a:pPr>
            <a:r>
              <a:rPr lang="en" sz="1200" dirty="0"/>
              <a:t>🛠️ </a:t>
            </a:r>
            <a:r>
              <a:rPr lang="en" sz="1200" b="1" dirty="0"/>
              <a:t>Technical and Educational Use</a:t>
            </a:r>
            <a:endParaRPr sz="1200" b="1" dirty="0"/>
          </a:p>
          <a:p>
            <a:pPr marL="457200" lvl="0" indent="-304800" algn="l" rtl="0">
              <a:lnSpc>
                <a:spcPct val="115000"/>
              </a:lnSpc>
              <a:spcBef>
                <a:spcPts val="1200"/>
              </a:spcBef>
              <a:spcAft>
                <a:spcPts val="0"/>
              </a:spcAft>
              <a:buSzPts val="1200"/>
              <a:buChar char="●"/>
            </a:pPr>
            <a:r>
              <a:rPr lang="en" sz="1200" b="1" dirty="0"/>
              <a:t>DIY Home Automation Projects</a:t>
            </a:r>
            <a:br>
              <a:rPr lang="en" sz="1200" b="1" dirty="0"/>
            </a:br>
            <a:r>
              <a:rPr lang="en" sz="1200" dirty="0"/>
              <a:t> Ideal for students and hobbyists learning analog automation and PCB design.</a:t>
            </a:r>
            <a:endParaRPr sz="1200" dirty="0"/>
          </a:p>
          <a:p>
            <a:pPr marL="457200" lvl="0" indent="-304800" algn="l" rtl="0">
              <a:lnSpc>
                <a:spcPct val="115000"/>
              </a:lnSpc>
              <a:spcBef>
                <a:spcPts val="0"/>
              </a:spcBef>
              <a:spcAft>
                <a:spcPts val="0"/>
              </a:spcAft>
              <a:buSzPts val="1200"/>
              <a:buChar char="●"/>
            </a:pPr>
            <a:r>
              <a:rPr lang="en" sz="1200" b="1" dirty="0"/>
              <a:t>Lab Demonstrations</a:t>
            </a:r>
            <a:br>
              <a:rPr lang="en" sz="1200" b="1" dirty="0"/>
            </a:br>
            <a:r>
              <a:rPr lang="en" sz="1200" dirty="0"/>
              <a:t> Used in electronics labs to teach sensor interfacing, comparator logic, and relay control.</a:t>
            </a:r>
            <a:endParaRPr sz="1200" dirty="0"/>
          </a:p>
          <a:p>
            <a:pPr marL="0" lvl="0" indent="0" algn="l" rtl="0">
              <a:lnSpc>
                <a:spcPct val="115000"/>
              </a:lnSpc>
              <a:spcBef>
                <a:spcPts val="1200"/>
              </a:spcBef>
              <a:spcAft>
                <a:spcPts val="0"/>
              </a:spcAft>
              <a:buNone/>
            </a:pPr>
            <a:r>
              <a:rPr lang="en" sz="1200" dirty="0"/>
              <a:t>🏢 </a:t>
            </a:r>
            <a:r>
              <a:rPr lang="en" sz="1200" b="1" dirty="0"/>
              <a:t>Small Office or Studio Spaces</a:t>
            </a:r>
            <a:endParaRPr sz="1200" b="1" dirty="0"/>
          </a:p>
          <a:p>
            <a:pPr marL="457200" lvl="0" indent="-304800" algn="l" rtl="0">
              <a:lnSpc>
                <a:spcPct val="115000"/>
              </a:lnSpc>
              <a:spcBef>
                <a:spcPts val="1200"/>
              </a:spcBef>
              <a:spcAft>
                <a:spcPts val="0"/>
              </a:spcAft>
              <a:buSzPts val="1200"/>
              <a:buChar char="●"/>
            </a:pPr>
            <a:r>
              <a:rPr lang="en" sz="1200" b="1" dirty="0"/>
              <a:t>Ambient Light Regulation</a:t>
            </a:r>
            <a:br>
              <a:rPr lang="en" sz="1200" b="1" dirty="0"/>
            </a:br>
            <a:r>
              <a:rPr lang="en" sz="1200" dirty="0"/>
              <a:t> Maintains consistent lighting conditions for productivity or aesthetic comfort.</a:t>
            </a:r>
            <a:endParaRPr sz="1200" dirty="0"/>
          </a:p>
          <a:p>
            <a:pPr marL="457200" lvl="0" indent="0" algn="just" rtl="0">
              <a:lnSpc>
                <a:spcPct val="115000"/>
              </a:lnSpc>
              <a:spcBef>
                <a:spcPts val="1200"/>
              </a:spcBef>
              <a:spcAft>
                <a:spcPts val="1200"/>
              </a:spcAft>
              <a:buNone/>
            </a:pPr>
            <a:endParaRPr dirty="0"/>
          </a:p>
        </p:txBody>
      </p:sp>
      <p:sp>
        <p:nvSpPr>
          <p:cNvPr id="172" name="Google Shape;172;p3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820">
                <a:latin typeface="Arial"/>
                <a:ea typeface="Arial"/>
                <a:cs typeface="Arial"/>
                <a:sym typeface="Arial"/>
              </a:rPr>
              <a:t>APPLICATIONS</a:t>
            </a:r>
            <a:endParaRPr sz="2820">
              <a:latin typeface="Arial"/>
              <a:ea typeface="Arial"/>
              <a:cs typeface="Arial"/>
              <a:sym typeface="Arial"/>
            </a:endParaRPr>
          </a:p>
          <a:p>
            <a:pPr marL="0" lvl="0" indent="0" algn="l" rtl="0">
              <a:spcBef>
                <a:spcPts val="0"/>
              </a:spcBef>
              <a:spcAft>
                <a:spcPts val="0"/>
              </a:spcAft>
              <a:buSzPts val="990"/>
              <a:buNone/>
            </a:pPr>
            <a:endParaRPr sz="252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176"/>
        <p:cNvGrpSpPr/>
        <p:nvPr/>
      </p:nvGrpSpPr>
      <p:grpSpPr>
        <a:xfrm>
          <a:off x="0" y="0"/>
          <a:ext cx="0" cy="0"/>
          <a:chOff x="0" y="0"/>
          <a:chExt cx="0" cy="0"/>
        </a:xfrm>
      </p:grpSpPr>
      <p:sp>
        <p:nvSpPr>
          <p:cNvPr id="177" name="Google Shape;177;p3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latin typeface="Arial"/>
                <a:ea typeface="Arial"/>
                <a:cs typeface="Arial"/>
                <a:sym typeface="Arial"/>
              </a:rPr>
              <a:t>ADVANTAGES</a:t>
            </a:r>
            <a:endParaRPr>
              <a:latin typeface="Arial"/>
              <a:ea typeface="Arial"/>
              <a:cs typeface="Arial"/>
              <a:sym typeface="Arial"/>
            </a:endParaRPr>
          </a:p>
        </p:txBody>
      </p:sp>
      <p:sp>
        <p:nvSpPr>
          <p:cNvPr id="178" name="Google Shape;178;p31"/>
          <p:cNvSpPr txBox="1"/>
          <p:nvPr/>
        </p:nvSpPr>
        <p:spPr>
          <a:xfrm>
            <a:off x="369277" y="1124625"/>
            <a:ext cx="8620623" cy="5069717"/>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200" dirty="0"/>
              <a:t>🌙 </a:t>
            </a:r>
            <a:r>
              <a:rPr lang="en" sz="1200" b="1" dirty="0"/>
              <a:t>Convenience &amp; Comfort</a:t>
            </a:r>
            <a:endParaRPr sz="1200" b="1" dirty="0"/>
          </a:p>
          <a:p>
            <a:pPr marL="457200" lvl="0" indent="-304800" algn="l" rtl="0">
              <a:lnSpc>
                <a:spcPct val="115000"/>
              </a:lnSpc>
              <a:spcBef>
                <a:spcPts val="1200"/>
              </a:spcBef>
              <a:spcAft>
                <a:spcPts val="0"/>
              </a:spcAft>
              <a:buSzPts val="1200"/>
              <a:buChar char="●"/>
            </a:pPr>
            <a:r>
              <a:rPr lang="en" sz="1200" b="1" dirty="0"/>
              <a:t>Hands-Free Operation</a:t>
            </a:r>
            <a:r>
              <a:rPr lang="en" sz="1200" dirty="0"/>
              <a:t>: Lights turn ON/OFF automatically based on ambient light—no need to manually flip switches.</a:t>
            </a:r>
            <a:endParaRPr sz="1200" dirty="0"/>
          </a:p>
          <a:p>
            <a:pPr marL="457200" lvl="0" indent="-304800" algn="l" rtl="0">
              <a:lnSpc>
                <a:spcPct val="115000"/>
              </a:lnSpc>
              <a:spcBef>
                <a:spcPts val="0"/>
              </a:spcBef>
              <a:spcAft>
                <a:spcPts val="0"/>
              </a:spcAft>
              <a:buSzPts val="1200"/>
              <a:buChar char="●"/>
            </a:pPr>
            <a:r>
              <a:rPr lang="en" sz="1200" b="1" dirty="0"/>
              <a:t>Night-Time Assistance</a:t>
            </a:r>
            <a:r>
              <a:rPr lang="en" sz="1200" dirty="0"/>
              <a:t>: Ideal for bedrooms, hallways, and bathrooms where visibility is crucial after dark.</a:t>
            </a:r>
            <a:endParaRPr sz="1200" dirty="0"/>
          </a:p>
          <a:p>
            <a:pPr marL="0" lvl="0" indent="0" algn="l" rtl="0">
              <a:lnSpc>
                <a:spcPct val="115000"/>
              </a:lnSpc>
              <a:spcBef>
                <a:spcPts val="1200"/>
              </a:spcBef>
              <a:spcAft>
                <a:spcPts val="0"/>
              </a:spcAft>
              <a:buNone/>
            </a:pPr>
            <a:r>
              <a:rPr lang="en" sz="1200" dirty="0"/>
              <a:t>⚡ </a:t>
            </a:r>
            <a:r>
              <a:rPr lang="en" sz="1200" b="1" dirty="0"/>
              <a:t>Energy Efficiency</a:t>
            </a:r>
            <a:endParaRPr sz="1200" b="1" dirty="0"/>
          </a:p>
          <a:p>
            <a:pPr marL="457200" lvl="0" indent="-304800" algn="l" rtl="0">
              <a:lnSpc>
                <a:spcPct val="115000"/>
              </a:lnSpc>
              <a:spcBef>
                <a:spcPts val="1200"/>
              </a:spcBef>
              <a:spcAft>
                <a:spcPts val="0"/>
              </a:spcAft>
              <a:buSzPts val="1200"/>
              <a:buChar char="●"/>
            </a:pPr>
            <a:r>
              <a:rPr lang="en" sz="1200" b="1" dirty="0"/>
              <a:t>Reduced Power Consumption</a:t>
            </a:r>
            <a:r>
              <a:rPr lang="en" sz="1200" dirty="0"/>
              <a:t>: Prevents lights from staying ON unnecessarily during daylight.</a:t>
            </a:r>
            <a:endParaRPr sz="1200" dirty="0"/>
          </a:p>
          <a:p>
            <a:pPr marL="457200" lvl="0" indent="-304800" algn="l" rtl="0">
              <a:lnSpc>
                <a:spcPct val="115000"/>
              </a:lnSpc>
              <a:spcBef>
                <a:spcPts val="0"/>
              </a:spcBef>
              <a:spcAft>
                <a:spcPts val="0"/>
              </a:spcAft>
              <a:buSzPts val="1200"/>
              <a:buChar char="●"/>
            </a:pPr>
            <a:r>
              <a:rPr lang="en" sz="1200" b="1" dirty="0"/>
              <a:t>Smart Usage</a:t>
            </a:r>
            <a:r>
              <a:rPr lang="en" sz="1200" dirty="0"/>
              <a:t>: Activates lighting only when needed, optimizing electricity usage.</a:t>
            </a:r>
            <a:endParaRPr sz="1200" dirty="0"/>
          </a:p>
          <a:p>
            <a:pPr marL="0" lvl="0" indent="0" algn="l" rtl="0">
              <a:lnSpc>
                <a:spcPct val="115000"/>
              </a:lnSpc>
              <a:spcBef>
                <a:spcPts val="1200"/>
              </a:spcBef>
              <a:spcAft>
                <a:spcPts val="0"/>
              </a:spcAft>
              <a:buNone/>
            </a:pPr>
            <a:r>
              <a:rPr lang="en" sz="1200" dirty="0"/>
              <a:t>🧠 </a:t>
            </a:r>
            <a:r>
              <a:rPr lang="en" sz="1200" b="1" dirty="0"/>
              <a:t>Simplicity &amp; Reliability</a:t>
            </a:r>
            <a:endParaRPr sz="1200" b="1" dirty="0"/>
          </a:p>
          <a:p>
            <a:pPr marL="457200" lvl="0" indent="-304800" algn="l" rtl="0">
              <a:lnSpc>
                <a:spcPct val="115000"/>
              </a:lnSpc>
              <a:spcBef>
                <a:spcPts val="1200"/>
              </a:spcBef>
              <a:spcAft>
                <a:spcPts val="0"/>
              </a:spcAft>
              <a:buSzPts val="1200"/>
              <a:buChar char="●"/>
            </a:pPr>
            <a:r>
              <a:rPr lang="en" sz="1200" b="1" dirty="0"/>
              <a:t>No Programming Required</a:t>
            </a:r>
            <a:r>
              <a:rPr lang="en" sz="1200" dirty="0"/>
              <a:t>: Unlike microcontroller-based systems, analog controllers work without code.</a:t>
            </a:r>
            <a:endParaRPr sz="1200" dirty="0"/>
          </a:p>
          <a:p>
            <a:pPr marL="457200" lvl="0" indent="-304800" algn="l" rtl="0">
              <a:lnSpc>
                <a:spcPct val="115000"/>
              </a:lnSpc>
              <a:spcBef>
                <a:spcPts val="0"/>
              </a:spcBef>
              <a:spcAft>
                <a:spcPts val="0"/>
              </a:spcAft>
              <a:buSzPts val="1200"/>
              <a:buChar char="●"/>
            </a:pPr>
            <a:r>
              <a:rPr lang="en" sz="1200" b="1" dirty="0"/>
              <a:t>Robust Design</a:t>
            </a:r>
            <a:r>
              <a:rPr lang="en" sz="1200" dirty="0"/>
              <a:t>: Fewer components mean lower chances of failure and easier troubleshooting.</a:t>
            </a:r>
            <a:endParaRPr sz="1200" dirty="0"/>
          </a:p>
          <a:p>
            <a:pPr marL="0" lvl="0" indent="0" algn="l" rtl="0">
              <a:lnSpc>
                <a:spcPct val="115000"/>
              </a:lnSpc>
              <a:spcBef>
                <a:spcPts val="1200"/>
              </a:spcBef>
              <a:spcAft>
                <a:spcPts val="0"/>
              </a:spcAft>
              <a:buNone/>
            </a:pPr>
            <a:r>
              <a:rPr lang="en" sz="1200" dirty="0"/>
              <a:t>🛠️ </a:t>
            </a:r>
            <a:r>
              <a:rPr lang="en" sz="1200" b="1" dirty="0"/>
              <a:t>Cost-Effective</a:t>
            </a:r>
            <a:endParaRPr sz="1200" b="1" dirty="0"/>
          </a:p>
          <a:p>
            <a:pPr marL="457200" lvl="0" indent="-304800" algn="l" rtl="0">
              <a:lnSpc>
                <a:spcPct val="115000"/>
              </a:lnSpc>
              <a:spcBef>
                <a:spcPts val="1200"/>
              </a:spcBef>
              <a:spcAft>
                <a:spcPts val="0"/>
              </a:spcAft>
              <a:buSzPts val="1200"/>
              <a:buChar char="●"/>
            </a:pPr>
            <a:r>
              <a:rPr lang="en" sz="1200" b="1" dirty="0"/>
              <a:t>Low Component Cost</a:t>
            </a:r>
            <a:r>
              <a:rPr lang="en" sz="1200" dirty="0"/>
              <a:t>: Uses basic components like LDRs, op-amps, and relays—affordable and widely available.</a:t>
            </a:r>
            <a:endParaRPr sz="1200" dirty="0"/>
          </a:p>
          <a:p>
            <a:pPr marL="457200" lvl="0" indent="-298450" algn="l" rtl="0">
              <a:lnSpc>
                <a:spcPct val="115000"/>
              </a:lnSpc>
              <a:spcBef>
                <a:spcPts val="0"/>
              </a:spcBef>
              <a:spcAft>
                <a:spcPts val="0"/>
              </a:spcAft>
              <a:buSzPts val="1100"/>
              <a:buChar char="●"/>
            </a:pPr>
            <a:r>
              <a:rPr lang="en" sz="1200" b="1" dirty="0"/>
              <a:t>Minimal Maintenance</a:t>
            </a:r>
            <a:r>
              <a:rPr lang="en" sz="1200" dirty="0"/>
              <a:t>: Once installed, it requires little upkeep</a:t>
            </a:r>
            <a:r>
              <a:rPr lang="en" sz="1100" dirty="0"/>
              <a:t>.</a:t>
            </a:r>
            <a:endParaRPr sz="1100" dirty="0"/>
          </a:p>
          <a:p>
            <a:pPr marL="457200" lvl="0" indent="0" algn="l" rtl="0">
              <a:lnSpc>
                <a:spcPct val="115000"/>
              </a:lnSpc>
              <a:spcBef>
                <a:spcPts val="1200"/>
              </a:spcBef>
              <a:spcAft>
                <a:spcPts val="0"/>
              </a:spcAft>
              <a:buNone/>
            </a:pPr>
            <a:endParaRPr sz="1500" b="1" dirty="0"/>
          </a:p>
          <a:p>
            <a:pPr marL="457200" lvl="0" indent="0" algn="l" rtl="0">
              <a:lnSpc>
                <a:spcPct val="115000"/>
              </a:lnSpc>
              <a:spcBef>
                <a:spcPts val="1200"/>
              </a:spcBef>
              <a:spcAft>
                <a:spcPts val="1200"/>
              </a:spcAft>
              <a:buNone/>
            </a:pPr>
            <a:endParaRPr sz="1300"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182"/>
        <p:cNvGrpSpPr/>
        <p:nvPr/>
      </p:nvGrpSpPr>
      <p:grpSpPr>
        <a:xfrm>
          <a:off x="0" y="0"/>
          <a:ext cx="0" cy="0"/>
          <a:chOff x="0" y="0"/>
          <a:chExt cx="0" cy="0"/>
        </a:xfrm>
      </p:grpSpPr>
      <p:sp>
        <p:nvSpPr>
          <p:cNvPr id="183" name="Google Shape;183;p3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latin typeface="Arial"/>
                <a:ea typeface="Arial"/>
                <a:cs typeface="Arial"/>
                <a:sym typeface="Arial"/>
              </a:rPr>
              <a:t>ADVANTAGES</a:t>
            </a:r>
            <a:endParaRPr>
              <a:latin typeface="Arial"/>
              <a:ea typeface="Arial"/>
              <a:cs typeface="Arial"/>
              <a:sym typeface="Arial"/>
            </a:endParaRPr>
          </a:p>
        </p:txBody>
      </p:sp>
      <p:sp>
        <p:nvSpPr>
          <p:cNvPr id="184" name="Google Shape;184;p32"/>
          <p:cNvSpPr txBox="1"/>
          <p:nvPr/>
        </p:nvSpPr>
        <p:spPr>
          <a:xfrm>
            <a:off x="495050" y="1491625"/>
            <a:ext cx="8139600" cy="4377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a:t>🧪 </a:t>
            </a:r>
            <a:r>
              <a:rPr lang="en" sz="1300" b="1"/>
              <a:t>Educational Value</a:t>
            </a:r>
            <a:endParaRPr sz="1300" b="1"/>
          </a:p>
          <a:p>
            <a:pPr marL="457200" lvl="0" indent="-311150" algn="l" rtl="0">
              <a:lnSpc>
                <a:spcPct val="115000"/>
              </a:lnSpc>
              <a:spcBef>
                <a:spcPts val="1200"/>
              </a:spcBef>
              <a:spcAft>
                <a:spcPts val="0"/>
              </a:spcAft>
              <a:buSzPts val="1300"/>
              <a:buChar char="●"/>
            </a:pPr>
            <a:r>
              <a:rPr lang="en" sz="1300" b="1"/>
              <a:t>Great for Learning</a:t>
            </a:r>
            <a:r>
              <a:rPr lang="en" sz="1300"/>
              <a:t>: Helps students understand sensor interfacing, comparator logic, and relay control.</a:t>
            </a:r>
            <a:endParaRPr sz="1300"/>
          </a:p>
          <a:p>
            <a:pPr marL="457200" lvl="0" indent="-311150" algn="l" rtl="0">
              <a:lnSpc>
                <a:spcPct val="115000"/>
              </a:lnSpc>
              <a:spcBef>
                <a:spcPts val="0"/>
              </a:spcBef>
              <a:spcAft>
                <a:spcPts val="0"/>
              </a:spcAft>
              <a:buSzPts val="1300"/>
              <a:buChar char="●"/>
            </a:pPr>
            <a:r>
              <a:rPr lang="en" sz="1300" b="1"/>
              <a:t>Simulation-Friendly</a:t>
            </a:r>
            <a:r>
              <a:rPr lang="en" sz="1300"/>
              <a:t>: Easy to test in Proteus, Multisim, or breadboard setups before PCB fabrication.</a:t>
            </a:r>
            <a:endParaRPr sz="1300"/>
          </a:p>
          <a:p>
            <a:pPr marL="0" lvl="0" indent="0" algn="l" rtl="0">
              <a:lnSpc>
                <a:spcPct val="115000"/>
              </a:lnSpc>
              <a:spcBef>
                <a:spcPts val="1200"/>
              </a:spcBef>
              <a:spcAft>
                <a:spcPts val="0"/>
              </a:spcAft>
              <a:buNone/>
            </a:pPr>
            <a:r>
              <a:rPr lang="en" sz="1300"/>
              <a:t>🧓 </a:t>
            </a:r>
            <a:r>
              <a:rPr lang="en" sz="1300" b="1"/>
              <a:t>Assistive Technology</a:t>
            </a:r>
            <a:endParaRPr sz="1300" b="1"/>
          </a:p>
          <a:p>
            <a:pPr marL="457200" lvl="0" indent="-311150" algn="l" rtl="0">
              <a:lnSpc>
                <a:spcPct val="115000"/>
              </a:lnSpc>
              <a:spcBef>
                <a:spcPts val="1200"/>
              </a:spcBef>
              <a:spcAft>
                <a:spcPts val="0"/>
              </a:spcAft>
              <a:buSzPts val="1300"/>
              <a:buChar char="●"/>
            </a:pPr>
            <a:r>
              <a:rPr lang="en" sz="1300" b="1"/>
              <a:t>Accessibility for Elderly or Disabled</a:t>
            </a:r>
            <a:r>
              <a:rPr lang="en" sz="1300"/>
              <a:t>: Reduces dependence on manual switches, enhancing safety and independence.</a:t>
            </a:r>
            <a:endParaRPr sz="1300"/>
          </a:p>
          <a:p>
            <a:pPr marL="0" lvl="0" indent="0" algn="l" rtl="0">
              <a:lnSpc>
                <a:spcPct val="115000"/>
              </a:lnSpc>
              <a:spcBef>
                <a:spcPts val="1200"/>
              </a:spcBef>
              <a:spcAft>
                <a:spcPts val="0"/>
              </a:spcAft>
              <a:buNone/>
            </a:pPr>
            <a:r>
              <a:rPr lang="en" sz="1300"/>
              <a:t>🧱 </a:t>
            </a:r>
            <a:r>
              <a:rPr lang="en" sz="1300" b="1"/>
              <a:t>Scalable Design</a:t>
            </a:r>
            <a:endParaRPr sz="1300" b="1"/>
          </a:p>
          <a:p>
            <a:pPr marL="457200" lvl="0" indent="-311150" algn="l" rtl="0">
              <a:lnSpc>
                <a:spcPct val="115000"/>
              </a:lnSpc>
              <a:spcBef>
                <a:spcPts val="1200"/>
              </a:spcBef>
              <a:spcAft>
                <a:spcPts val="0"/>
              </a:spcAft>
              <a:buSzPts val="1300"/>
              <a:buChar char="●"/>
            </a:pPr>
            <a:r>
              <a:rPr lang="en" sz="1300" b="1"/>
              <a:t>Modular Expansion</a:t>
            </a:r>
            <a:r>
              <a:rPr lang="en" sz="1300"/>
              <a:t>: Can be extended to multiple rooms or zones with simple duplication.</a:t>
            </a:r>
            <a:endParaRPr sz="1300"/>
          </a:p>
          <a:p>
            <a:pPr marL="457200" lvl="0" indent="-311150" algn="l" rtl="0">
              <a:lnSpc>
                <a:spcPct val="115000"/>
              </a:lnSpc>
              <a:spcBef>
                <a:spcPts val="0"/>
              </a:spcBef>
              <a:spcAft>
                <a:spcPts val="0"/>
              </a:spcAft>
              <a:buSzPts val="1300"/>
              <a:buChar char="●"/>
            </a:pPr>
            <a:r>
              <a:rPr lang="en" sz="1300" b="1"/>
              <a:t>Customizable Thresholds</a:t>
            </a:r>
            <a:r>
              <a:rPr lang="en" sz="1300"/>
              <a:t>: Setpoint levels can be adjusted to suit different lighting needs.</a:t>
            </a:r>
            <a:endParaRPr sz="1300"/>
          </a:p>
          <a:p>
            <a:pPr marL="457200" lvl="0" indent="0" algn="l" rtl="0">
              <a:lnSpc>
                <a:spcPct val="115000"/>
              </a:lnSpc>
              <a:spcBef>
                <a:spcPts val="1200"/>
              </a:spcBef>
              <a:spcAft>
                <a:spcPts val="0"/>
              </a:spcAft>
              <a:buNone/>
            </a:pPr>
            <a:endParaRPr sz="1100"/>
          </a:p>
          <a:p>
            <a:pPr marL="457200" lvl="0" indent="0" algn="l" rtl="0">
              <a:lnSpc>
                <a:spcPct val="115000"/>
              </a:lnSpc>
              <a:spcBef>
                <a:spcPts val="1200"/>
              </a:spcBef>
              <a:spcAft>
                <a:spcPts val="0"/>
              </a:spcAft>
              <a:buNone/>
            </a:pPr>
            <a:endParaRPr sz="1500" b="1"/>
          </a:p>
          <a:p>
            <a:pPr marL="457200" lvl="0" indent="0" algn="l" rtl="0">
              <a:lnSpc>
                <a:spcPct val="115000"/>
              </a:lnSpc>
              <a:spcBef>
                <a:spcPts val="1200"/>
              </a:spcBef>
              <a:spcAft>
                <a:spcPts val="1200"/>
              </a:spcAft>
              <a:buNone/>
            </a:pPr>
            <a:endParaRPr sz="1300"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188"/>
        <p:cNvGrpSpPr/>
        <p:nvPr/>
      </p:nvGrpSpPr>
      <p:grpSpPr>
        <a:xfrm>
          <a:off x="0" y="0"/>
          <a:ext cx="0" cy="0"/>
          <a:chOff x="0" y="0"/>
          <a:chExt cx="0" cy="0"/>
        </a:xfrm>
      </p:grpSpPr>
      <p:sp>
        <p:nvSpPr>
          <p:cNvPr id="189" name="Google Shape;189;p3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latin typeface="Arial"/>
                <a:ea typeface="Arial"/>
                <a:cs typeface="Arial"/>
                <a:sym typeface="Arial"/>
              </a:rPr>
              <a:t>DISADVANTAGES</a:t>
            </a:r>
            <a:endParaRPr>
              <a:latin typeface="Arial"/>
              <a:ea typeface="Arial"/>
              <a:cs typeface="Arial"/>
              <a:sym typeface="Arial"/>
            </a:endParaRPr>
          </a:p>
        </p:txBody>
      </p:sp>
      <p:sp>
        <p:nvSpPr>
          <p:cNvPr id="190" name="Google Shape;190;p33"/>
          <p:cNvSpPr txBox="1"/>
          <p:nvPr/>
        </p:nvSpPr>
        <p:spPr>
          <a:xfrm>
            <a:off x="495050" y="1491625"/>
            <a:ext cx="8139600" cy="5167538"/>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1200"/>
              </a:spcBef>
              <a:spcAft>
                <a:spcPts val="0"/>
              </a:spcAft>
              <a:buSzPts val="1200"/>
              <a:buChar char="●"/>
            </a:pPr>
            <a:r>
              <a:rPr lang="en" sz="1200" b="1" dirty="0"/>
              <a:t>Limited Precision</a:t>
            </a:r>
            <a:br>
              <a:rPr lang="en" sz="1200" b="1" dirty="0"/>
            </a:br>
            <a:r>
              <a:rPr lang="en" sz="1200" dirty="0"/>
              <a:t>Sensitivity depends on component tolerances; ambient light variations may cause inconsistent switching. </a:t>
            </a:r>
            <a:r>
              <a:rPr lang="en" sz="1200" b="1" dirty="0"/>
              <a:t> </a:t>
            </a:r>
            <a:endParaRPr sz="1200" b="1" dirty="0"/>
          </a:p>
          <a:p>
            <a:pPr marL="457200" lvl="0" indent="-304800" algn="l" rtl="0">
              <a:lnSpc>
                <a:spcPct val="115000"/>
              </a:lnSpc>
              <a:spcBef>
                <a:spcPts val="0"/>
              </a:spcBef>
              <a:spcAft>
                <a:spcPts val="0"/>
              </a:spcAft>
              <a:buSzPts val="1200"/>
              <a:buChar char="●"/>
            </a:pPr>
            <a:r>
              <a:rPr lang="en" sz="1200" b="1" dirty="0"/>
              <a:t>No Programmability</a:t>
            </a:r>
            <a:br>
              <a:rPr lang="en" sz="1200" b="1" dirty="0"/>
            </a:br>
            <a:r>
              <a:rPr lang="en" sz="1200" dirty="0"/>
              <a:t>Unlike microcontroller-based systems, it lacks flexibility for advanced features like timers, remote control, or adaptive thresholds.</a:t>
            </a:r>
            <a:endParaRPr sz="1200" dirty="0"/>
          </a:p>
          <a:p>
            <a:pPr marL="457200" lvl="0" indent="-304800" algn="l" rtl="0">
              <a:lnSpc>
                <a:spcPct val="115000"/>
              </a:lnSpc>
              <a:spcBef>
                <a:spcPts val="0"/>
              </a:spcBef>
              <a:spcAft>
                <a:spcPts val="0"/>
              </a:spcAft>
              <a:buSzPts val="1200"/>
              <a:buChar char="●"/>
            </a:pPr>
            <a:r>
              <a:rPr lang="en" sz="1200" b="1" dirty="0"/>
              <a:t>Component Aging</a:t>
            </a:r>
            <a:br>
              <a:rPr lang="en" sz="1200" b="1" dirty="0"/>
            </a:br>
            <a:r>
              <a:rPr lang="en" sz="1200" dirty="0"/>
              <a:t>LDRs and relays can degrade over time, affecting performance and reliability.</a:t>
            </a:r>
            <a:endParaRPr sz="1200" dirty="0"/>
          </a:p>
          <a:p>
            <a:pPr marL="457200" lvl="0" indent="-304800" algn="l" rtl="0">
              <a:lnSpc>
                <a:spcPct val="115000"/>
              </a:lnSpc>
              <a:spcBef>
                <a:spcPts val="0"/>
              </a:spcBef>
              <a:spcAft>
                <a:spcPts val="0"/>
              </a:spcAft>
              <a:buSzPts val="1200"/>
              <a:buChar char="●"/>
            </a:pPr>
            <a:r>
              <a:rPr lang="en" sz="1200" b="1" dirty="0"/>
              <a:t>Bulky for Multi-Room Use</a:t>
            </a:r>
            <a:br>
              <a:rPr lang="en" sz="1200" b="1" dirty="0"/>
            </a:br>
            <a:r>
              <a:rPr lang="en" sz="1200" dirty="0"/>
              <a:t>Scaling the system across multiple rooms requires duplicating the entire circuit, increasing cost and complexity.</a:t>
            </a:r>
            <a:endParaRPr sz="1200" dirty="0"/>
          </a:p>
          <a:p>
            <a:pPr marL="457200" lvl="0" indent="-304800" algn="l" rtl="0">
              <a:lnSpc>
                <a:spcPct val="115000"/>
              </a:lnSpc>
              <a:spcBef>
                <a:spcPts val="0"/>
              </a:spcBef>
              <a:spcAft>
                <a:spcPts val="0"/>
              </a:spcAft>
              <a:buSzPts val="1200"/>
              <a:buChar char="●"/>
            </a:pPr>
            <a:r>
              <a:rPr lang="en" sz="1200" b="1" dirty="0"/>
              <a:t>Manual Calibration Needed</a:t>
            </a:r>
            <a:br>
              <a:rPr lang="en" sz="1200" b="1" dirty="0"/>
            </a:br>
            <a:r>
              <a:rPr lang="en" sz="1200" dirty="0"/>
              <a:t>Setpoint voltage for the comparator must be manually tuned, which can be tedious and environment-specific.</a:t>
            </a:r>
            <a:endParaRPr sz="1200" dirty="0"/>
          </a:p>
          <a:p>
            <a:pPr marL="457200" lvl="0" indent="0" algn="l" rtl="0">
              <a:lnSpc>
                <a:spcPct val="115000"/>
              </a:lnSpc>
              <a:spcBef>
                <a:spcPts val="1200"/>
              </a:spcBef>
              <a:spcAft>
                <a:spcPts val="0"/>
              </a:spcAft>
              <a:buNone/>
            </a:pPr>
            <a:endParaRPr sz="1300" b="1" dirty="0"/>
          </a:p>
          <a:p>
            <a:pPr marL="0" lvl="0" indent="0" algn="l" rtl="0">
              <a:lnSpc>
                <a:spcPct val="115000"/>
              </a:lnSpc>
              <a:spcBef>
                <a:spcPts val="1200"/>
              </a:spcBef>
              <a:spcAft>
                <a:spcPts val="0"/>
              </a:spcAft>
              <a:buNone/>
            </a:pPr>
            <a:endParaRPr sz="1500" dirty="0"/>
          </a:p>
          <a:p>
            <a:pPr marL="0" lvl="0" indent="0" algn="l" rtl="0">
              <a:lnSpc>
                <a:spcPct val="115000"/>
              </a:lnSpc>
              <a:spcBef>
                <a:spcPts val="1200"/>
              </a:spcBef>
              <a:spcAft>
                <a:spcPts val="0"/>
              </a:spcAft>
              <a:buNone/>
            </a:pPr>
            <a:endParaRPr sz="1300" dirty="0"/>
          </a:p>
          <a:p>
            <a:pPr marL="457200" lvl="0" indent="0" algn="l" rtl="0">
              <a:lnSpc>
                <a:spcPct val="115000"/>
              </a:lnSpc>
              <a:spcBef>
                <a:spcPts val="1200"/>
              </a:spcBef>
              <a:spcAft>
                <a:spcPts val="0"/>
              </a:spcAft>
              <a:buNone/>
            </a:pPr>
            <a:endParaRPr sz="1100" dirty="0"/>
          </a:p>
          <a:p>
            <a:pPr marL="457200" lvl="0" indent="0" algn="l" rtl="0">
              <a:lnSpc>
                <a:spcPct val="115000"/>
              </a:lnSpc>
              <a:spcBef>
                <a:spcPts val="1200"/>
              </a:spcBef>
              <a:spcAft>
                <a:spcPts val="0"/>
              </a:spcAft>
              <a:buNone/>
            </a:pPr>
            <a:endParaRPr sz="1500" b="1" dirty="0"/>
          </a:p>
          <a:p>
            <a:pPr marL="457200" lvl="0" indent="0" algn="l" rtl="0">
              <a:lnSpc>
                <a:spcPct val="115000"/>
              </a:lnSpc>
              <a:spcBef>
                <a:spcPts val="1200"/>
              </a:spcBef>
              <a:spcAft>
                <a:spcPts val="1200"/>
              </a:spcAft>
              <a:buNone/>
            </a:pPr>
            <a:endParaRPr sz="13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194"/>
        <p:cNvGrpSpPr/>
        <p:nvPr/>
      </p:nvGrpSpPr>
      <p:grpSpPr>
        <a:xfrm>
          <a:off x="0" y="0"/>
          <a:ext cx="0" cy="0"/>
          <a:chOff x="0" y="0"/>
          <a:chExt cx="0" cy="0"/>
        </a:xfrm>
      </p:grpSpPr>
      <p:sp>
        <p:nvSpPr>
          <p:cNvPr id="195" name="Google Shape;195;p3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latin typeface="Arial"/>
                <a:ea typeface="Arial"/>
                <a:cs typeface="Arial"/>
                <a:sym typeface="Arial"/>
              </a:rPr>
              <a:t>REFERENCE PAPERS</a:t>
            </a:r>
            <a:endParaRPr>
              <a:latin typeface="Arial"/>
              <a:ea typeface="Arial"/>
              <a:cs typeface="Arial"/>
              <a:sym typeface="Arial"/>
            </a:endParaRPr>
          </a:p>
        </p:txBody>
      </p:sp>
      <p:sp>
        <p:nvSpPr>
          <p:cNvPr id="196" name="Google Shape;196;p34"/>
          <p:cNvSpPr txBox="1"/>
          <p:nvPr/>
        </p:nvSpPr>
        <p:spPr>
          <a:xfrm>
            <a:off x="38575" y="1009400"/>
            <a:ext cx="8832300" cy="4636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endParaRPr sz="1100" b="1">
              <a:solidFill>
                <a:srgbClr val="20124D"/>
              </a:solidFill>
            </a:endParaRPr>
          </a:p>
          <a:p>
            <a:pPr marL="457200" lvl="0" indent="-304800" algn="l" rtl="0">
              <a:lnSpc>
                <a:spcPct val="115000"/>
              </a:lnSpc>
              <a:spcBef>
                <a:spcPts val="1200"/>
              </a:spcBef>
              <a:spcAft>
                <a:spcPts val="0"/>
              </a:spcAft>
              <a:buSzPts val="1200"/>
              <a:buAutoNum type="arabicPeriod"/>
            </a:pPr>
            <a:r>
              <a:rPr lang="en" sz="1200">
                <a:solidFill>
                  <a:srgbClr val="20124D"/>
                </a:solidFill>
              </a:rPr>
              <a:t>🔦</a:t>
            </a:r>
            <a:r>
              <a:rPr lang="en" sz="1200">
                <a:solidFill>
                  <a:srgbClr val="20124D"/>
                </a:solidFill>
                <a:uFill>
                  <a:noFill/>
                </a:uFill>
                <a:hlinkClick r:id="rId3">
                  <a:extLst>
                    <a:ext uri="{A12FA001-AC4F-418D-AE19-62706E023703}">
                      <ahyp:hlinkClr xmlns:ahyp="http://schemas.microsoft.com/office/drawing/2018/hyperlinkcolor" val="tx"/>
                    </a:ext>
                  </a:extLst>
                </a:hlinkClick>
              </a:rPr>
              <a:t> </a:t>
            </a:r>
            <a:r>
              <a:rPr lang="en" sz="1200" b="1" u="sng">
                <a:solidFill>
                  <a:srgbClr val="20124D"/>
                </a:solidFill>
                <a:hlinkClick r:id="rId3">
                  <a:extLst>
                    <a:ext uri="{A12FA001-AC4F-418D-AE19-62706E023703}">
                      <ahyp:hlinkClr xmlns:ahyp="http://schemas.microsoft.com/office/drawing/2018/hyperlinkcolor" val="tx"/>
                    </a:ext>
                  </a:extLst>
                </a:hlinkClick>
              </a:rPr>
              <a:t>Automatic Light Control System Using LDR and Relay – IJERT</a:t>
            </a:r>
            <a:br>
              <a:rPr lang="en" sz="1200" b="1" u="sng">
                <a:solidFill>
                  <a:srgbClr val="00629B"/>
                </a:solidFill>
                <a:hlinkClick r:id="rId3">
                  <a:extLst>
                    <a:ext uri="{A12FA001-AC4F-418D-AE19-62706E023703}">
                      <ahyp:hlinkClr xmlns:ahyp="http://schemas.microsoft.com/office/drawing/2018/hyperlinkcolor" val="tx"/>
                    </a:ext>
                  </a:extLst>
                </a:hlinkClick>
              </a:rPr>
            </a:br>
            <a:r>
              <a:rPr lang="en" sz="1200">
                <a:solidFill>
                  <a:srgbClr val="00629B"/>
                </a:solidFill>
              </a:rPr>
              <a:t> </a:t>
            </a:r>
            <a:r>
              <a:rPr lang="en" sz="1200" i="1"/>
              <a:t>IJERT, Vol. 9, Issue 5, 2020</a:t>
            </a:r>
            <a:br>
              <a:rPr lang="en" sz="1200" i="1"/>
            </a:br>
            <a:r>
              <a:rPr lang="en" sz="1200"/>
              <a:t> This paper presents a simple analog system using an LDR and a relay to control lighting based on ambient light. It avoids microcontrollers and focuses on comparator-based switching—perfect for PCB implementation.</a:t>
            </a:r>
            <a:endParaRPr sz="1200"/>
          </a:p>
          <a:p>
            <a:pPr marL="457200" lvl="0" indent="-304800" algn="l" rtl="0">
              <a:lnSpc>
                <a:spcPct val="115000"/>
              </a:lnSpc>
              <a:spcBef>
                <a:spcPts val="0"/>
              </a:spcBef>
              <a:spcAft>
                <a:spcPts val="0"/>
              </a:spcAft>
              <a:buSzPts val="1200"/>
              <a:buAutoNum type="arabicPeriod"/>
            </a:pPr>
            <a:r>
              <a:rPr lang="en" sz="1200"/>
              <a:t>🧠</a:t>
            </a:r>
            <a:r>
              <a:rPr lang="en" sz="1200">
                <a:uFill>
                  <a:noFill/>
                </a:uFill>
                <a:hlinkClick r:id="rId4"/>
              </a:rPr>
              <a:t> </a:t>
            </a:r>
            <a:r>
              <a:rPr lang="en" sz="1200" b="1" u="sng">
                <a:solidFill>
                  <a:srgbClr val="20124D"/>
                </a:solidFill>
                <a:hlinkClick r:id="rId4">
                  <a:extLst>
                    <a:ext uri="{A12FA001-AC4F-418D-AE19-62706E023703}">
                      <ahyp:hlinkClr xmlns:ahyp="http://schemas.microsoft.com/office/drawing/2018/hyperlinkcolor" val="tx"/>
                    </a:ext>
                  </a:extLst>
                </a:hlinkClick>
              </a:rPr>
              <a:t>Design and Implementation of Automatic Room Light Controller Using LDR – IJARCCE</a:t>
            </a:r>
            <a:br>
              <a:rPr lang="en" sz="1200" b="1" u="sng">
                <a:solidFill>
                  <a:srgbClr val="20124D"/>
                </a:solidFill>
                <a:hlinkClick r:id="rId4">
                  <a:extLst>
                    <a:ext uri="{A12FA001-AC4F-418D-AE19-62706E023703}">
                      <ahyp:hlinkClr xmlns:ahyp="http://schemas.microsoft.com/office/drawing/2018/hyperlinkcolor" val="tx"/>
                    </a:ext>
                  </a:extLst>
                </a:hlinkClick>
              </a:rPr>
            </a:br>
            <a:r>
              <a:rPr lang="en" sz="1200"/>
              <a:t> </a:t>
            </a:r>
            <a:r>
              <a:rPr lang="en" sz="1200" i="1"/>
              <a:t>IJARCCE, Vol. 5, Issue 4, 2016</a:t>
            </a:r>
            <a:br>
              <a:rPr lang="en" sz="1200" i="1"/>
            </a:br>
            <a:r>
              <a:rPr lang="en" sz="1200"/>
              <a:t> Explores a comparator-based circuit using LDR to switch lights automatically. No programming or logic gates involved—ideal for analog automation in home appliances.</a:t>
            </a:r>
            <a:endParaRPr sz="1200"/>
          </a:p>
          <a:p>
            <a:pPr marL="457200" lvl="0" indent="-304800" algn="l" rtl="0">
              <a:lnSpc>
                <a:spcPct val="115000"/>
              </a:lnSpc>
              <a:spcBef>
                <a:spcPts val="0"/>
              </a:spcBef>
              <a:spcAft>
                <a:spcPts val="0"/>
              </a:spcAft>
              <a:buSzPts val="1200"/>
              <a:buAutoNum type="arabicPeriod"/>
            </a:pPr>
            <a:r>
              <a:rPr lang="en" sz="1200"/>
              <a:t>🏠</a:t>
            </a:r>
            <a:r>
              <a:rPr lang="en" sz="1200">
                <a:uFill>
                  <a:noFill/>
                </a:uFill>
                <a:hlinkClick r:id="rId5"/>
              </a:rPr>
              <a:t> </a:t>
            </a:r>
            <a:r>
              <a:rPr lang="en" sz="1200" b="1" u="sng">
                <a:solidFill>
                  <a:srgbClr val="20124D"/>
                </a:solidFill>
                <a:hlinkClick r:id="rId5">
                  <a:extLst>
                    <a:ext uri="{A12FA001-AC4F-418D-AE19-62706E023703}">
                      <ahyp:hlinkClr xmlns:ahyp="http://schemas.microsoft.com/office/drawing/2018/hyperlinkcolor" val="tx"/>
                    </a:ext>
                  </a:extLst>
                </a:hlinkClick>
              </a:rPr>
              <a:t>Automatic Room Light Controller – JETIR</a:t>
            </a:r>
            <a:br>
              <a:rPr lang="en" sz="1200" b="1" u="sng">
                <a:solidFill>
                  <a:srgbClr val="20124D"/>
                </a:solidFill>
                <a:hlinkClick r:id="rId5">
                  <a:extLst>
                    <a:ext uri="{A12FA001-AC4F-418D-AE19-62706E023703}">
                      <ahyp:hlinkClr xmlns:ahyp="http://schemas.microsoft.com/office/drawing/2018/hyperlinkcolor" val="tx"/>
                    </a:ext>
                  </a:extLst>
                </a:hlinkClick>
              </a:rPr>
            </a:br>
            <a:r>
              <a:rPr lang="en" sz="1200"/>
              <a:t> </a:t>
            </a:r>
            <a:r>
              <a:rPr lang="en" sz="1200" i="1"/>
              <a:t>JETIR, March 2024</a:t>
            </a:r>
            <a:br>
              <a:rPr lang="en" sz="1200" i="1"/>
            </a:br>
            <a:r>
              <a:rPr lang="en" sz="1200"/>
              <a:t> Although it includes voice control, the core system uses sensor-based switching. You can extract the LDR and relay logic for your analog-only design.</a:t>
            </a:r>
            <a:endParaRPr sz="1200"/>
          </a:p>
          <a:p>
            <a:pPr marL="457200" lvl="0" indent="-304800" algn="l" rtl="0">
              <a:lnSpc>
                <a:spcPct val="115000"/>
              </a:lnSpc>
              <a:spcBef>
                <a:spcPts val="0"/>
              </a:spcBef>
              <a:spcAft>
                <a:spcPts val="0"/>
              </a:spcAft>
              <a:buSzPts val="1200"/>
              <a:buAutoNum type="arabicPeriod"/>
            </a:pPr>
            <a:r>
              <a:rPr lang="en" sz="1200"/>
              <a:t>🚶</a:t>
            </a:r>
            <a:r>
              <a:rPr lang="en" sz="1200">
                <a:uFill>
                  <a:noFill/>
                </a:uFill>
                <a:hlinkClick r:id="rId6"/>
              </a:rPr>
              <a:t> </a:t>
            </a:r>
            <a:r>
              <a:rPr lang="en" sz="1200" b="1" u="sng">
                <a:solidFill>
                  <a:srgbClr val="20124D"/>
                </a:solidFill>
                <a:hlinkClick r:id="rId6">
                  <a:extLst>
                    <a:ext uri="{A12FA001-AC4F-418D-AE19-62706E023703}">
                      <ahyp:hlinkClr xmlns:ahyp="http://schemas.microsoft.com/office/drawing/2018/hyperlinkcolor" val="tx"/>
                    </a:ext>
                  </a:extLst>
                </a:hlinkClick>
              </a:rPr>
              <a:t>Automatic Lights Using PIR Sensor – IJARSCT</a:t>
            </a:r>
            <a:br>
              <a:rPr lang="en" sz="1200" b="1" u="sng">
                <a:solidFill>
                  <a:srgbClr val="20124D"/>
                </a:solidFill>
                <a:hlinkClick r:id="rId6">
                  <a:extLst>
                    <a:ext uri="{A12FA001-AC4F-418D-AE19-62706E023703}">
                      <ahyp:hlinkClr xmlns:ahyp="http://schemas.microsoft.com/office/drawing/2018/hyperlinkcolor" val="tx"/>
                    </a:ext>
                  </a:extLst>
                </a:hlinkClick>
              </a:rPr>
            </a:br>
            <a:r>
              <a:rPr lang="en" sz="1200"/>
              <a:t> </a:t>
            </a:r>
            <a:r>
              <a:rPr lang="en" sz="1200" i="1"/>
              <a:t>IJARSCT, 2023</a:t>
            </a:r>
            <a:br>
              <a:rPr lang="en" sz="1200" i="1"/>
            </a:br>
            <a:r>
              <a:rPr lang="en" sz="1200"/>
              <a:t> Focuses on motion-based lighting using PIR sensors and relays. While it mentions Arduino, the PIR-relay logic can be adapted to analog-only systems.</a:t>
            </a:r>
            <a:endParaRPr sz="1200"/>
          </a:p>
          <a:p>
            <a:pPr marL="457200" lvl="0" indent="0" algn="l" rtl="0">
              <a:lnSpc>
                <a:spcPct val="115000"/>
              </a:lnSpc>
              <a:spcBef>
                <a:spcPts val="1200"/>
              </a:spcBef>
              <a:spcAft>
                <a:spcPts val="0"/>
              </a:spcAft>
              <a:buNone/>
            </a:pPr>
            <a:endParaRPr sz="1200" b="1"/>
          </a:p>
          <a:p>
            <a:pPr marL="0" lvl="0" indent="0" algn="l" rtl="0">
              <a:lnSpc>
                <a:spcPct val="115000"/>
              </a:lnSpc>
              <a:spcBef>
                <a:spcPts val="1200"/>
              </a:spcBef>
              <a:spcAft>
                <a:spcPts val="1200"/>
              </a:spcAft>
              <a:buNone/>
            </a:pPr>
            <a:endParaRPr sz="1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00"/>
        <p:cNvGrpSpPr/>
        <p:nvPr/>
      </p:nvGrpSpPr>
      <p:grpSpPr>
        <a:xfrm>
          <a:off x="0" y="0"/>
          <a:ext cx="0" cy="0"/>
          <a:chOff x="0" y="0"/>
          <a:chExt cx="0" cy="0"/>
        </a:xfrm>
      </p:grpSpPr>
      <p:sp>
        <p:nvSpPr>
          <p:cNvPr id="201" name="Google Shape;201;p35"/>
          <p:cNvSpPr txBox="1">
            <a:spLocks noGrp="1"/>
          </p:cNvSpPr>
          <p:nvPr>
            <p:ph type="body" idx="1"/>
          </p:nvPr>
        </p:nvSpPr>
        <p:spPr>
          <a:xfrm>
            <a:off x="864000" y="-100800"/>
            <a:ext cx="7427100" cy="5082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sz="7200">
                <a:latin typeface="Arial"/>
                <a:ea typeface="Arial"/>
                <a:cs typeface="Arial"/>
                <a:sym typeface="Arial"/>
              </a:rPr>
              <a:t>   THANK YOU</a:t>
            </a:r>
            <a:endParaRPr sz="72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2147</Words>
  <Application>Microsoft Office PowerPoint</Application>
  <PresentationFormat>On-screen Show (16:9)</PresentationFormat>
  <Paragraphs>163</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Roboto</vt:lpstr>
      <vt:lpstr>Merriweather</vt:lpstr>
      <vt:lpstr>Paradigm</vt:lpstr>
      <vt:lpstr>AUTOMATIC LIGHT CONTROLLER- (HOME APPLIANCES)</vt:lpstr>
      <vt:lpstr>GROUP MEMBERS</vt:lpstr>
      <vt:lpstr>AIM</vt:lpstr>
      <vt:lpstr>OBJECTIVE</vt:lpstr>
      <vt:lpstr>OBJECTIVE</vt:lpstr>
      <vt:lpstr>COMPONENTS USED</vt:lpstr>
      <vt:lpstr>TOOLS USED </vt:lpstr>
      <vt:lpstr> PCB DESIGN AND FABRICATION TOOLS</vt:lpstr>
      <vt:lpstr>LITERATURE REVIEW</vt:lpstr>
      <vt:lpstr>LITERATURE REVIEW</vt:lpstr>
      <vt:lpstr>FLOW CHART</vt:lpstr>
      <vt:lpstr>FLOW CHART</vt:lpstr>
      <vt:lpstr>FLOW CHART</vt:lpstr>
      <vt:lpstr>FLOW CHART</vt:lpstr>
      <vt:lpstr>BLOCK DIAGRAM</vt:lpstr>
      <vt:lpstr>CIRCUIT DIAGRAM</vt:lpstr>
      <vt:lpstr>APPLICATIONS</vt:lpstr>
      <vt:lpstr>APPLICATIONS </vt:lpstr>
      <vt:lpstr>ADVANTAGES</vt:lpstr>
      <vt:lpstr>ADVANTAGES</vt:lpstr>
      <vt:lpstr>DISADVANTAGES</vt:lpstr>
      <vt:lpstr>REFERENCE PAPERS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AUTOMATIC LIGHT CONTROLLER- (HOME APPLIANCES)</dc:title>
  <dc:creator>vaishnavi</dc:creator>
  <cp:lastModifiedBy>vaishnavi</cp:lastModifiedBy>
  <cp:revision>8</cp:revision>
  <dcterms:modified xsi:type="dcterms:W3CDTF">2026-05-14T14:25:21Z</dcterms:modified>
</cp:coreProperties>
</file>